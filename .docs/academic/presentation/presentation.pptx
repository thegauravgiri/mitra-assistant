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af6bfbd366410b" /><Relationship Type="http://schemas.openxmlformats.org/officeDocument/2006/relationships/extended-properties" Target="/docProps/app.xml" Id="R0bb0ef1bef564113" /><Relationship Type="http://schemas.openxmlformats.org/officeDocument/2006/relationships/officeDocument" Target="/ppt/presentation.xml" Id="R69893730cff94f2b" /></Relationships>
</file>

<file path=ppt/presentation.xml><?xml version="1.0" encoding="utf-8"?>
<p:presentation xmlns:p="http://schemas.openxmlformats.org/presentationml/2006/main">
  <p:sldMasterIdLst>
    <p:sldMasterId xmlns:r="http://schemas.openxmlformats.org/officeDocument/2006/relationships" id="2147483648" r:id="R4dea4424caeb4a9c"/>
  </p:sldMasterIdLst>
  <p:notesMasterIdLst>
    <p:notesMasterId xmlns:r="http://schemas.openxmlformats.org/officeDocument/2006/relationships" r:id="R307ddd4c4d894ff1"/>
  </p:notesMasterIdLst>
  <p:sldIdLst>
    <p:sldId xmlns:r="http://schemas.openxmlformats.org/officeDocument/2006/relationships" id="256" r:id="R268e58f19d034422"/>
    <p:sldId xmlns:r="http://schemas.openxmlformats.org/officeDocument/2006/relationships" id="257" r:id="R83a9f78ea20244d3"/>
    <p:sldId xmlns:r="http://schemas.openxmlformats.org/officeDocument/2006/relationships" id="258" r:id="R7593c2dfe02f421c"/>
    <p:sldId xmlns:r="http://schemas.openxmlformats.org/officeDocument/2006/relationships" id="259" r:id="Rf0007a687e3f48da"/>
    <p:sldId xmlns:r="http://schemas.openxmlformats.org/officeDocument/2006/relationships" id="260" r:id="R8ab6432c4d5d44c3"/>
    <p:sldId xmlns:r="http://schemas.openxmlformats.org/officeDocument/2006/relationships" id="261" r:id="R0c8ba9b205034b9b"/>
    <p:sldId xmlns:r="http://schemas.openxmlformats.org/officeDocument/2006/relationships" id="262" r:id="R12025009160c4b9f"/>
    <p:sldId xmlns:r="http://schemas.openxmlformats.org/officeDocument/2006/relationships" id="263" r:id="R89b369ea275c43f6"/>
    <p:sldId xmlns:r="http://schemas.openxmlformats.org/officeDocument/2006/relationships" id="264" r:id="R3e20fe5b6fa64d2a"/>
    <p:sldId xmlns:r="http://schemas.openxmlformats.org/officeDocument/2006/relationships" id="265" r:id="R0b13ee1787a84081"/>
    <p:sldId xmlns:r="http://schemas.openxmlformats.org/officeDocument/2006/relationships" id="266" r:id="R8dcbdc730df9419d"/>
    <p:sldId xmlns:r="http://schemas.openxmlformats.org/officeDocument/2006/relationships" id="267" r:id="Rd1f6dad22b31455d"/>
    <p:sldId xmlns:r="http://schemas.openxmlformats.org/officeDocument/2006/relationships" id="268" r:id="R1428b25f4fe34f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d72968302d4285" /><Relationship Type="http://schemas.openxmlformats.org/officeDocument/2006/relationships/slideMaster" Target="/ppt/slideMasters/slideMaster1.xml" Id="R4dea4424caeb4a9c" /><Relationship Type="http://schemas.openxmlformats.org/officeDocument/2006/relationships/notesMaster" Target="/ppt/notesMasters/notesMaster1.xml" Id="R307ddd4c4d894ff1" /><Relationship Type="http://schemas.openxmlformats.org/officeDocument/2006/relationships/presProps" Target="/ppt/presProps.xml" Id="Rc10a1b367b6f42da" /><Relationship Type="http://schemas.openxmlformats.org/officeDocument/2006/relationships/tableStyles" Target="/ppt/tableStyles.xml" Id="R8d3aa1df692747f9" /><Relationship Type="http://schemas.openxmlformats.org/officeDocument/2006/relationships/slide" Target="/ppt/slides/slide1.xml" Id="R268e58f19d034422" /><Relationship Type="http://schemas.openxmlformats.org/officeDocument/2006/relationships/slide" Target="/ppt/slides/slide2.xml" Id="R83a9f78ea20244d3" /><Relationship Type="http://schemas.openxmlformats.org/officeDocument/2006/relationships/slide" Target="/ppt/slides/slide3.xml" Id="R7593c2dfe02f421c" /><Relationship Type="http://schemas.openxmlformats.org/officeDocument/2006/relationships/slide" Target="/ppt/slides/slide4.xml" Id="Rf0007a687e3f48da" /><Relationship Type="http://schemas.openxmlformats.org/officeDocument/2006/relationships/slide" Target="/ppt/slides/slide5.xml" Id="R8ab6432c4d5d44c3" /><Relationship Type="http://schemas.openxmlformats.org/officeDocument/2006/relationships/slide" Target="/ppt/slides/slide6.xml" Id="R0c8ba9b205034b9b" /><Relationship Type="http://schemas.openxmlformats.org/officeDocument/2006/relationships/slide" Target="/ppt/slides/slide7.xml" Id="R12025009160c4b9f" /><Relationship Type="http://schemas.openxmlformats.org/officeDocument/2006/relationships/slide" Target="/ppt/slides/slide8.xml" Id="R89b369ea275c43f6" /><Relationship Type="http://schemas.openxmlformats.org/officeDocument/2006/relationships/slide" Target="/ppt/slides/slide9.xml" Id="R3e20fe5b6fa64d2a" /><Relationship Type="http://schemas.openxmlformats.org/officeDocument/2006/relationships/slide" Target="/ppt/slides/slide10.xml" Id="R0b13ee1787a84081" /><Relationship Type="http://schemas.openxmlformats.org/officeDocument/2006/relationships/slide" Target="/ppt/slides/slide11.xml" Id="R8dcbdc730df9419d" /><Relationship Type="http://schemas.openxmlformats.org/officeDocument/2006/relationships/slide" Target="/ppt/slides/slide12.xml" Id="Rd1f6dad22b31455d" /><Relationship Type="http://schemas.openxmlformats.org/officeDocument/2006/relationships/slide" Target="/ppt/slides/slide13.xml" Id="R1428b25f4fe34f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2160cc81ba45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0689e9fd9b45d1" /><Relationship Type="http://schemas.openxmlformats.org/officeDocument/2006/relationships/notesMaster" Target="/ppt/notesMasters/notesMaster1.xml" Id="R73091abd262543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4bc535f0414e95" /><Relationship Type="http://schemas.openxmlformats.org/officeDocument/2006/relationships/notesMaster" Target="/ppt/notesMasters/notesMaster1.xml" Id="R1d0d13c3e1bc41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0121eaed4e4a79" /><Relationship Type="http://schemas.openxmlformats.org/officeDocument/2006/relationships/notesMaster" Target="/ppt/notesMasters/notesMaster1.xml" Id="Re00eae22e08a48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75c40d4b3a4b0c" /><Relationship Type="http://schemas.openxmlformats.org/officeDocument/2006/relationships/notesMaster" Target="/ppt/notesMasters/notesMaster1.xml" Id="Reec127e330ce43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c39580e5b1494b" /><Relationship Type="http://schemas.openxmlformats.org/officeDocument/2006/relationships/notesMaster" Target="/ppt/notesMasters/notesMaster1.xml" Id="Rc97cad8899ec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1c2bef131c4cb3" /><Relationship Type="http://schemas.openxmlformats.org/officeDocument/2006/relationships/notesMaster" Target="/ppt/notesMasters/notesMaster1.xml" Id="R69ca67beee734d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953885ffde47f3" /><Relationship Type="http://schemas.openxmlformats.org/officeDocument/2006/relationships/notesMaster" Target="/ppt/notesMasters/notesMaster1.xml" Id="R1c0d3e5cf1644d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09732b4ca646af" /><Relationship Type="http://schemas.openxmlformats.org/officeDocument/2006/relationships/notesMaster" Target="/ppt/notesMasters/notesMaster1.xml" Id="R27a50039a2074d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0f2266da014169" /><Relationship Type="http://schemas.openxmlformats.org/officeDocument/2006/relationships/notesMaster" Target="/ppt/notesMasters/notesMaster1.xml" Id="R639967854ade4e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45f442d3ae4c2a" /><Relationship Type="http://schemas.openxmlformats.org/officeDocument/2006/relationships/notesMaster" Target="/ppt/notesMasters/notesMaster1.xml" Id="R6267cacfa6ac42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ded593b1e84d64" /><Relationship Type="http://schemas.openxmlformats.org/officeDocument/2006/relationships/notesMaster" Target="/ppt/notesMasters/notesMaster1.xml" Id="R4a4f6b4b35c940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86335af7174499" /><Relationship Type="http://schemas.openxmlformats.org/officeDocument/2006/relationships/notesMaster" Target="/ppt/notesMasters/notesMaster1.xml" Id="R85fe210b819049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b4151b0f6f4edb" /><Relationship Type="http://schemas.openxmlformats.org/officeDocument/2006/relationships/notesMaster" Target="/ppt/notesMasters/notesMaster1.xml" Id="Rd500c9cbe891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Sneha Neupane. My project is an AI Meeting Communication Coach, a desktop assistant intended to support users during online meetings and help them reflect on their participation afterwards. This presentation introduces the problem, the proposed design and the development plan. I will also explain the progress reported at the end of Week 4 and how I plan to evaluate the final prototype.</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cover, 1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plan identifies two gaps. First, listening, thinking and taking notes at the same time can make it difficult to retain key points or notice an unanswered question. Second, participants need useful feedback on how they contribute to a meeting. The project therefore combines live assistance with a later participation review. This is the motivation for the proposed prototype, rather than a claim that every existing meeting tool lacks these capabilities.</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is a desktop overlay, so it does not require a separate recording bot to join the meeting. The must-have requirements are audio capture, a live speaker-labelled transcript, live insights and the overlay controls. Document context and post-meeting coaching are should-have requirements. Cross-meeting comparison is a could-have requirement, although Goal 5 schedules a two-meeting comparison for Week 9. The primary platform is macOS. The plan also mentions a later Windows port, which remains deferred. Users still need consent for test recordings and clarity about the cloud processing.</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2.1, 3, 6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planned targets, not measured achievements. By Week 5, the project aims to deliver reliable audio capture, speaker-labelled transcription and working overlay controls. Document grounding follows in Week 6. Live insights follow in Week 7, with the aim of flagging at least 75 percent of unanswered questions in annotated meetings. By Week 9, the goal is to calculate participation measures and compare a speaker across at least two meetings. Static analysis and unit tests continue throughout all twelve weeks.</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2.3 and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summarises the six-stage architecture in Figure 1 of the project plan. Audio starts with local microphone and system capture. Deepgram provides transcription and speaker labels. The application builds a rolling transcript and selects relevant sections from uploaded documents. Gemini then produces structured output for the live overlay. The later coaching stage will calculate speaking time, turn counts and interruptions, and support comparison across meetings. The system therefore combines local processing with two cloud services. The JSON parser is reported as implemented, while the complete live insight engine remains planned.</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1, Figure 1, 2.2, 4.3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this is an individual project, the plan uses a simple weekly development cycle instead of a full team Scrum process. The student performs the development, testing and documentation. A supervisor reviews progress every two weeks. Each feature separates data services, domain models, state management and presentation. Swift handles native audio and window behaviour, while Flutter and Dart provide the interface. Riverpod manages application state. The plan selects Deepgram Nova-2 and Gemini 2.5 Flash for speech recognition and reasoning. Automated checks accompany manual testing on physical macOS hardware.</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4.1–4.5.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plan reports that audio capture, live transcription, the overlay, API settings, document upload and meeting history with CSV export already work end to end on macOS. Requirements analysis and the architecture and interface design are complete. The current refinement focuses on speaker labels during overlapping speech and matching relevant document content. Formal milestone evidence is still required for latency and platform behaviour. The insight engine, coaching analytics and Graphify comparison remain planned. These status statements reflect the supplied report at the end of Week 4.</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schedule covers twelve weeks from the charter start date. The first four weeks establish requirements, design and the core macOS implementation. Weeks 5 to 7 focus on reliability, document grounding and the live insight engine. Coaching and cross-meeting comparison follow in Weeks 8 and 9. Weeks 10 and 11 are reserved for evaluation, with the final report and demonstration in Week 12. The plan reports document work ahead of its scheduled phase. A Windows port is mentioned as deferred work and should not displace the primary macOS milestones.</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6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will combine measured technical performance with manual review. Transcription latency will be logged during a ten-minute call. Live insights should appear within fifteen seconds of the relevant conversation point. At least 75 percent of manually identified unanswered questions should be flagged. Speaking time should be within ten percent of a manual measurement, and the application should run for thirty minutes without crashing. The overlay must also be tested separately on Zoom, Teams and Google Meet. The plan describes the question metric both as accuracy and correctly flagged questions. Before evaluation, the annotation protocol should define the denominator and also record false alerts.</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2.3, 3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Overlapping speech can cause speaker labels to change or be assigned incorrectly, which also affects later participation measures. The plan proposes testing and tuning, with a fallback label where confidence is low. Delayed insights require short prompts and measured latency because a twelve-to-fifteen-second polling interval alone cannot guarantee delivery within fifteen seconds. Structured JSON and fallback parsing help the application handle malformed responses, but they do not establish that the content is accurate. User review and annotated evaluation are still necessary. The final risk is scope pressure from Windows support, so macOS remains the priority.</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8, with evaluation implications from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states that test meetings will involve consenting classmates or colleagues. The application captures audio locally, but transcription and reasoning rely on Deepgram and Gemini, so participants should understand that relevant data leaves the device. The plan currently stores user-supplied API keys locally using shared_preferences and keeps them out of the repository. Local preferences should not be presented as secure credential storage. Moving keys to operating-system secure storage and agreeing a retention and deletion process are proposed improvements before broader testing. These two controls are additions for discussion, rather than features reported as already complete. Screen-share masking does not replace participant consent.</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4.3 and 5. Secure credential storage and explicit retention arrangements are proposed additions..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one-person project. I am responsible for development, testing, planning and writing. The supervisor provides advice through fortnightly reviews and agrees scope changes. Consenting classmates or colleagues support test meetings. The Mac and development tools are already available, so the estimated direct cost is API usage only. The plan estimates sixty to one hundred and twenty Australian dollars for Deepgram and forty to eighty dollars for Gemini. Together this gives an estimated total of one hundred to two hundred dollars. These are project budget estimates from the plan, not current vendor price quotations.</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to confirm the Week 5 milestone through a measured call and platform tests. Document relevance testing follows in Week 6, before integrating the live insight engine in Week 7. The expected final outcome is a demonstrable macOS prototype that provides live assistance, followed by participation coaching and meeting comparison. The evaluation report will show which targets the prototype meets and where limitations remain. I welcome feedback on the scope, evaluation measures and the balance between live assistance and later coaching.</a:t>
            </a:r>
          </a:p>
          <a:p xmlns:a="http://schemas.openxmlformats.org/drawingml/2006/main">
            <a:r>
              <a:t/>
            </a:r>
          </a:p>
          <a:p xmlns:a="http://schemas.openxmlformats.org/drawingml/2006/main">
            <a:r>
              <a:t>Source: Sneha Neupane, Project Plan / Early-Stage Implementation Report, “AI Meeting Communication Coach: A Speaker-Aware Desktop Assistant”, supplied project plan. Relevant sections: 3, 6, 7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fc2628dacf4d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50dde82ea244f5" /><Relationship Type="http://schemas.openxmlformats.org/officeDocument/2006/relationships/slideLayout" Target="/ppt/slideLayouts/slideLayout1.xml" Id="R127ac42be3bb44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7ac42be3bb44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1fd5f53bca48b6" /><Relationship Type="http://schemas.openxmlformats.org/officeDocument/2006/relationships/notesSlide" Target="/ppt/notesSlides/notesSlide1.xml" Id="R1aeddf4bba2f47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666a1bbc81479d" /><Relationship Type="http://schemas.openxmlformats.org/officeDocument/2006/relationships/notesSlide" Target="/ppt/notesSlides/notesSlide2.xml" Id="R7e108cea9d1f42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6daebb568f4d59" /><Relationship Type="http://schemas.openxmlformats.org/officeDocument/2006/relationships/notesSlide" Target="/ppt/notesSlides/notesSlide3.xml" Id="Rb940222e129549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af784429b94de7" /><Relationship Type="http://schemas.openxmlformats.org/officeDocument/2006/relationships/notesSlide" Target="/ppt/notesSlides/notesSlide4.xml" Id="R1cf426a2a22247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64529b08424511" /><Relationship Type="http://schemas.openxmlformats.org/officeDocument/2006/relationships/notesSlide" Target="/ppt/notesSlides/notesSlide5.xml" Id="R0959a4efb9684c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e174dee4a549c0" /><Relationship Type="http://schemas.openxmlformats.org/officeDocument/2006/relationships/notesSlide" Target="/ppt/notesSlides/notesSlide6.xml" Id="R7fc9ccca380143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d4d52cec6d4f5b" /><Relationship Type="http://schemas.openxmlformats.org/officeDocument/2006/relationships/notesSlide" Target="/ppt/notesSlides/notesSlide7.xml" Id="Ra314180ac23448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8eeefe9ac843d9" /><Relationship Type="http://schemas.openxmlformats.org/officeDocument/2006/relationships/notesSlide" Target="/ppt/notesSlides/notesSlide8.xml" Id="R10213838553444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9c809c70e54bba" /><Relationship Type="http://schemas.openxmlformats.org/officeDocument/2006/relationships/notesSlide" Target="/ppt/notesSlides/notesSlide9.xml" Id="Raebc4eb2aa1944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3b7c36028f4df0" /><Relationship Type="http://schemas.openxmlformats.org/officeDocument/2006/relationships/notesSlide" Target="/ppt/notesSlides/notesSlide10.xml" Id="R02520b712d7546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54ae081dcb4dd7" /><Relationship Type="http://schemas.openxmlformats.org/officeDocument/2006/relationships/notesSlide" Target="/ppt/notesSlides/notesSlide11.xml" Id="R4077d053b9634a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998234262a431e" /><Relationship Type="http://schemas.openxmlformats.org/officeDocument/2006/relationships/notesSlide" Target="/ppt/notesSlides/notesSlide12.xml" Id="R48aa1c2b58674e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c8ba2a18cb45be" /><Relationship Type="http://schemas.openxmlformats.org/officeDocument/2006/relationships/notesSlide" Target="/ppt/notesSlides/notesSlide13.xml" Id="R347b551df0bc4032" /></Relationships>
</file>

<file path=ppt/slides/slide1.xml><?xml version="1.0" encoding="utf-8"?>
<p:sld xmlns:p="http://schemas.openxmlformats.org/presentationml/2006/main">
  <p:cSld>
    <p:bg>
      <p:bgPr>
        <a:solidFill xmlns:a="http://schemas.openxmlformats.org/drawingml/2006/main">
          <a:srgbClr val="142B4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0B1B20-760A-4425-869D-5671AF2A2D14}"/>
              </a:ext>
            </a:extLst>
          </p:cNvPr>
          <p:cNvSpPr>
            <a:spLocks xmlns:a="http://schemas.openxmlformats.org/drawingml/2006/main" noGrp="1"/>
          </p:cNvSpPr>
          <p:nvPr/>
        </p:nvSpPr>
        <p:spPr>
          <a:xfrm xmlns:a="http://schemas.openxmlformats.org/drawingml/2006/main">
            <a:off x="609600" y="114300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AI Meeting</a:t>
            </a:r>
          </a:p>
          <a:p xmlns:a="http://schemas.openxmlformats.org/drawingml/2006/main">
            <a:pPr>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Communication Coach</a:t>
            </a:r>
          </a:p>
        </p:txBody>
      </p:sp>
      <p:sp>
        <p:nvSpPr>
          <p:cNvPr id="2" name="">
            <a:extLst xmlns:a="http://schemas.openxmlformats.org/drawingml/2006/main">
              <a:ext uri="{FF2B5EF4-FFF2-40B4-BE49-F238E27FC236}">
                <a16:creationId xmlns:a16="http://schemas.microsoft.com/office/drawing/2014/main" id="{936EFE04-A4E8-435A-AAFB-CD9792B341E5}"/>
              </a:ext>
            </a:extLst>
          </p:cNvPr>
          <p:cNvSpPr>
            <a:spLocks xmlns:a="http://schemas.openxmlformats.org/drawingml/2006/main" noGrp="1"/>
          </p:cNvSpPr>
          <p:nvPr/>
        </p:nvSpPr>
        <p:spPr>
          <a:xfrm xmlns:a="http://schemas.openxmlformats.org/drawingml/2006/main">
            <a:off x="647700" y="31432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90D9D0"/>
                </a:solidFill>
                <a:latin typeface="DejaVu Sans"/>
                <a:ea typeface="DejaVu Sans"/>
                <a:cs typeface="DejaVu Sans"/>
              </a:defRPr>
            </a:pPr>
            <a:r>
              <a:rPr sz="2400" b="0">
                <a:solidFill>
                  <a:srgbClr val="90D9D0"/>
                </a:solidFill>
                <a:latin typeface="DejaVu Sans"/>
                <a:ea typeface="DejaVu Sans"/>
                <a:cs typeface="DejaVu Sans"/>
              </a:rPr>
              <a:t>A speaker-aware desktop assistant</a:t>
            </a:r>
          </a:p>
        </p:txBody>
      </p:sp>
      <p:sp>
        <p:nvSpPr>
          <p:cNvPr id="3" name="">
            <a:extLst xmlns:a="http://schemas.openxmlformats.org/drawingml/2006/main">
              <a:ext uri="{FF2B5EF4-FFF2-40B4-BE49-F238E27FC236}">
                <a16:creationId xmlns:a16="http://schemas.microsoft.com/office/drawing/2014/main" id="{04BC0233-5731-42FE-8731-BA189EEEAA0C}"/>
              </a:ext>
            </a:extLst>
          </p:cNvPr>
          <p:cNvSpPr>
            <a:spLocks xmlns:a="http://schemas.openxmlformats.org/drawingml/2006/main" noGrp="1"/>
          </p:cNvSpPr>
          <p:nvPr/>
        </p:nvSpPr>
        <p:spPr>
          <a:xfrm xmlns:a="http://schemas.openxmlformats.org/drawingml/2006/main">
            <a:off x="647700" y="38766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Initial project presentation</a:t>
            </a:r>
          </a:p>
        </p:txBody>
      </p:sp>
      <p:sp>
        <p:nvSpPr>
          <p:cNvPr id="4" name="">
            <a:extLst xmlns:a="http://schemas.openxmlformats.org/drawingml/2006/main">
              <a:ext uri="{FF2B5EF4-FFF2-40B4-BE49-F238E27FC236}">
                <a16:creationId xmlns:a16="http://schemas.microsoft.com/office/drawing/2014/main" id="{8372A13E-FBBB-49D4-9010-9D78A3AAE266}"/>
              </a:ext>
            </a:extLst>
          </p:cNvPr>
          <p:cNvSpPr>
            <a:spLocks xmlns:a="http://schemas.openxmlformats.org/drawingml/2006/main" noGrp="1"/>
          </p:cNvSpPr>
          <p:nvPr/>
        </p:nvSpPr>
        <p:spPr>
          <a:xfrm xmlns:a="http://schemas.openxmlformats.org/drawingml/2006/main">
            <a:off x="647700" y="51435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Sneha Neupane (Student ID: 900008705)</a:t>
            </a:r>
          </a:p>
        </p:txBody>
      </p:sp>
      <p:sp>
        <p:nvSpPr>
          <p:cNvPr id="5" name="">
            <a:extLst xmlns:a="http://schemas.openxmlformats.org/drawingml/2006/main">
              <a:ext uri="{FF2B5EF4-FFF2-40B4-BE49-F238E27FC236}">
                <a16:creationId xmlns:a16="http://schemas.microsoft.com/office/drawing/2014/main" id="{46A4A903-CABC-4AB3-A328-0BFE82AA14B7}"/>
              </a:ext>
            </a:extLst>
          </p:cNvPr>
          <p:cNvSpPr>
            <a:spLocks xmlns:a="http://schemas.openxmlformats.org/drawingml/2006/main" noGrp="1"/>
          </p:cNvSpPr>
          <p:nvPr/>
        </p:nvSpPr>
        <p:spPr>
          <a:xfrm xmlns:a="http://schemas.openxmlformats.org/drawingml/2006/main">
            <a:off x="647700" y="56483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CD8E0"/>
                </a:solidFill>
                <a:latin typeface="DejaVu Sans"/>
                <a:ea typeface="DejaVu Sans"/>
                <a:cs typeface="DejaVu Sans"/>
              </a:defRPr>
            </a:pPr>
            <a:r>
              <a:rPr sz="1575" b="0">
                <a:solidFill>
                  <a:srgbClr val="CCD8E0"/>
                </a:solidFill>
                <a:latin typeface="DejaVu Sans"/>
                <a:ea typeface="DejaVu Sans"/>
                <a:cs typeface="DejaVu Sans"/>
              </a:rPr>
              <a:t>ITNET312A Major Individual Project</a:t>
            </a:r>
          </a:p>
          <a:p xmlns:a="http://schemas.openxmlformats.org/drawingml/2006/main">
            <a:pPr>
              <a:defRPr sz="1575" b="0">
                <a:solidFill>
                  <a:srgbClr val="CCD8E0"/>
                </a:solidFill>
                <a:latin typeface="DejaVu Sans"/>
                <a:ea typeface="DejaVu Sans"/>
                <a:cs typeface="DejaVu Sans"/>
              </a:defRPr>
            </a:pPr>
            <a:r>
              <a:rPr sz="1575" b="0">
                <a:solidFill>
                  <a:srgbClr val="CCD8E0"/>
                </a:solidFill>
                <a:latin typeface="DejaVu Sans"/>
                <a:ea typeface="DejaVu Sans"/>
                <a:cs typeface="DejaVu Sans"/>
              </a:rPr>
              <a:t>TAFE NSW Higher Education</a:t>
            </a:r>
          </a:p>
        </p:txBody>
      </p:sp>
    </p:spTree>
    <p:extLst>
      <p:ext uri="{BB962C8B-B14F-4D97-AF65-F5344CB8AC3E}">
        <p14:creationId xmlns:p14="http://schemas.microsoft.com/office/powerpoint/2010/main" val="1902078770"/>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D9FBE7-9662-4E33-A8DE-6C2573BA52BB}"/>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The communication problem</a:t>
            </a:r>
          </a:p>
        </p:txBody>
      </p:sp>
      <p:sp>
        <p:nvSpPr>
          <p:cNvPr id="2" name="">
            <a:extLst xmlns:a="http://schemas.openxmlformats.org/drawingml/2006/main">
              <a:ext uri="{FF2B5EF4-FFF2-40B4-BE49-F238E27FC236}">
                <a16:creationId xmlns:a16="http://schemas.microsoft.com/office/drawing/2014/main" id="{5952ECA1-EE75-4CCF-9CDA-574326645978}"/>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The project addresses two needs in virtual meetings.</a:t>
            </a:r>
          </a:p>
        </p:txBody>
      </p:sp>
      <p:sp>
        <p:nvSpPr>
          <p:cNvPr id="3" name="">
            <a:extLst xmlns:a="http://schemas.openxmlformats.org/drawingml/2006/main">
              <a:ext uri="{FF2B5EF4-FFF2-40B4-BE49-F238E27FC236}">
                <a16:creationId xmlns:a16="http://schemas.microsoft.com/office/drawing/2014/main" id="{26A7F0D0-45C7-4A78-9960-77E2BAC7862F}"/>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7B63C1D1-78F9-481A-B743-55BA922D8FEF}"/>
              </a:ext>
            </a:extLst>
          </p:cNvPr>
          <p:cNvSpPr>
            <a:spLocks xmlns:a="http://schemas.openxmlformats.org/drawingml/2006/main" noGrp="1"/>
          </p:cNvSpPr>
          <p:nvPr/>
        </p:nvSpPr>
        <p:spPr>
          <a:xfrm xmlns:a="http://schemas.openxmlformats.org/drawingml/2006/main">
            <a:off x="590550" y="2009775"/>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Keeping track of the discussion</a:t>
            </a:r>
          </a:p>
        </p:txBody>
      </p:sp>
      <p:sp>
        <p:nvSpPr>
          <p:cNvPr id="5" name="">
            <a:extLst xmlns:a="http://schemas.openxmlformats.org/drawingml/2006/main">
              <a:ext uri="{FF2B5EF4-FFF2-40B4-BE49-F238E27FC236}">
                <a16:creationId xmlns:a16="http://schemas.microsoft.com/office/drawing/2014/main" id="{6619352E-2D6D-46FD-B332-0D363525137C}"/>
              </a:ext>
            </a:extLst>
          </p:cNvPr>
          <p:cNvSpPr>
            <a:spLocks xmlns:a="http://schemas.openxmlformats.org/drawingml/2006/main" noGrp="1"/>
          </p:cNvSpPr>
          <p:nvPr/>
        </p:nvSpPr>
        <p:spPr>
          <a:xfrm xmlns:a="http://schemas.openxmlformats.org/drawingml/2006/main">
            <a:off x="590550" y="3038475"/>
            <a:ext cx="51149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2100" b="0">
                <a:solidFill>
                  <a:srgbClr val="20374A"/>
                </a:solidFill>
                <a:latin typeface="DejaVu Sans"/>
                <a:ea typeface="DejaVu Sans"/>
                <a:cs typeface="DejaVu Sans"/>
              </a:defRPr>
            </a:pPr>
            <a:r>
              <a:t>Key points and action items can be missed during a busy discussion.</a:t>
            </a:r>
          </a:p>
          <a:p xmlns:a="http://schemas.openxmlformats.org/drawingml/2006/main">
            <a:pPr marL="241300" indent="-139700">
              <a:spcAft>
                <a:spcPts val="1400"/>
              </a:spcAft>
              <a:buChar char="•"/>
              <a:defRPr sz="2100" b="0">
                <a:solidFill>
                  <a:srgbClr val="20374A"/>
                </a:solidFill>
                <a:latin typeface="DejaVu Sans"/>
                <a:ea typeface="DejaVu Sans"/>
                <a:cs typeface="DejaVu Sans"/>
              </a:defRPr>
            </a:pPr>
            <a:r>
              <a:t>Questions may remain unanswered as the meeting moves on.</a:t>
            </a:r>
          </a:p>
        </p:txBody>
      </p:sp>
      <p:sp>
        <p:nvSpPr>
          <p:cNvPr id="6" name="">
            <a:extLst xmlns:a="http://schemas.openxmlformats.org/drawingml/2006/main">
              <a:ext uri="{FF2B5EF4-FFF2-40B4-BE49-F238E27FC236}">
                <a16:creationId xmlns:a16="http://schemas.microsoft.com/office/drawing/2014/main" id="{ABB62F64-0CAD-473F-8A8B-8121AEE8C356}"/>
              </a:ext>
            </a:extLst>
          </p:cNvPr>
          <p:cNvSpPr>
            <a:spLocks xmlns:a="http://schemas.openxmlformats.org/drawingml/2006/main" noGrp="1"/>
          </p:cNvSpPr>
          <p:nvPr/>
        </p:nvSpPr>
        <p:spPr>
          <a:xfrm xmlns:a="http://schemas.openxmlformats.org/drawingml/2006/main">
            <a:off x="6534150" y="2009775"/>
            <a:ext cx="5029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Understanding participation</a:t>
            </a:r>
          </a:p>
        </p:txBody>
      </p:sp>
      <p:sp>
        <p:nvSpPr>
          <p:cNvPr id="7" name="">
            <a:extLst xmlns:a="http://schemas.openxmlformats.org/drawingml/2006/main">
              <a:ext uri="{FF2B5EF4-FFF2-40B4-BE49-F238E27FC236}">
                <a16:creationId xmlns:a16="http://schemas.microsoft.com/office/drawing/2014/main" id="{70136D02-E575-416D-AFE3-862BC8475DDE}"/>
              </a:ext>
            </a:extLst>
          </p:cNvPr>
          <p:cNvSpPr>
            <a:spLocks xmlns:a="http://schemas.openxmlformats.org/drawingml/2006/main" noGrp="1"/>
          </p:cNvSpPr>
          <p:nvPr/>
        </p:nvSpPr>
        <p:spPr>
          <a:xfrm xmlns:a="http://schemas.openxmlformats.org/drawingml/2006/main">
            <a:off x="6534150" y="3038475"/>
            <a:ext cx="4905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2100" b="0">
                <a:solidFill>
                  <a:srgbClr val="20374A"/>
                </a:solidFill>
                <a:latin typeface="DejaVu Sans"/>
                <a:ea typeface="DejaVu Sans"/>
                <a:cs typeface="DejaVu Sans"/>
              </a:defRPr>
            </a:pPr>
            <a:r>
              <a:t>Participants need feedback on speaking time and turn-taking.</a:t>
            </a:r>
          </a:p>
          <a:p xmlns:a="http://schemas.openxmlformats.org/drawingml/2006/main">
            <a:pPr marL="241300" indent="-139700">
              <a:spcAft>
                <a:spcPts val="1400"/>
              </a:spcAft>
              <a:buChar char="•"/>
              <a:defRPr sz="2100" b="0">
                <a:solidFill>
                  <a:srgbClr val="20374A"/>
                </a:solidFill>
                <a:latin typeface="DejaVu Sans"/>
                <a:ea typeface="DejaVu Sans"/>
                <a:cs typeface="DejaVu Sans"/>
              </a:defRPr>
            </a:pPr>
            <a:r>
              <a:t>A meeting record alone may offer limited guidance on how to improve.</a:t>
            </a:r>
          </a:p>
        </p:txBody>
      </p:sp>
      <p:sp>
        <p:nvSpPr>
          <p:cNvPr id="8" name="">
            <a:extLst xmlns:a="http://schemas.openxmlformats.org/drawingml/2006/main">
              <a:ext uri="{FF2B5EF4-FFF2-40B4-BE49-F238E27FC236}">
                <a16:creationId xmlns:a16="http://schemas.microsoft.com/office/drawing/2014/main" id="{DEAE4370-DD39-429E-BEEE-7D434154A978}"/>
              </a:ext>
            </a:extLst>
          </p:cNvPr>
          <p:cNvSpPr>
            <a:spLocks xmlns:a="http://schemas.openxmlformats.org/drawingml/2006/main" noGrp="1"/>
          </p:cNvSpPr>
          <p:nvPr/>
        </p:nvSpPr>
        <p:spPr>
          <a:xfrm xmlns:a="http://schemas.openxmlformats.org/drawingml/2006/main">
            <a:off x="590550" y="5743575"/>
            <a:ext cx="1081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B40"/>
                </a:solidFill>
                <a:latin typeface="DejaVu Sans"/>
                <a:ea typeface="DejaVu Sans"/>
                <a:cs typeface="DejaVu Sans"/>
              </a:defRPr>
            </a:pPr>
            <a:r>
              <a:rPr sz="1950" b="1">
                <a:solidFill>
                  <a:srgbClr val="142B40"/>
                </a:solidFill>
                <a:latin typeface="DejaVu Sans"/>
                <a:ea typeface="DejaVu Sans"/>
                <a:cs typeface="DejaVu Sans"/>
              </a:rPr>
              <a:t>Project aim: live meeting support and feedback to improve participation.</a:t>
            </a:r>
          </a:p>
        </p:txBody>
      </p:sp>
    </p:spTree>
    <p:extLst>
      <p:ext uri="{BB962C8B-B14F-4D97-AF65-F5344CB8AC3E}">
        <p14:creationId xmlns:p14="http://schemas.microsoft.com/office/powerpoint/2010/main" val="1004117472"/>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FEBB69-8CA0-4B53-A2B2-502DF94DD7CB}"/>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Proposed solution and scope</a:t>
            </a:r>
          </a:p>
        </p:txBody>
      </p:sp>
      <p:sp>
        <p:nvSpPr>
          <p:cNvPr id="2" name="">
            <a:extLst xmlns:a="http://schemas.openxmlformats.org/drawingml/2006/main">
              <a:ext uri="{FF2B5EF4-FFF2-40B4-BE49-F238E27FC236}">
                <a16:creationId xmlns:a16="http://schemas.microsoft.com/office/drawing/2014/main" id="{B79230CB-17C5-4376-ABA9-62A8ECFF1404}"/>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A macOS desktop overlay that captures microphone and system audio.</a:t>
            </a:r>
          </a:p>
        </p:txBody>
      </p:sp>
      <p:sp>
        <p:nvSpPr>
          <p:cNvPr id="3" name="">
            <a:extLst xmlns:a="http://schemas.openxmlformats.org/drawingml/2006/main">
              <a:ext uri="{FF2B5EF4-FFF2-40B4-BE49-F238E27FC236}">
                <a16:creationId xmlns:a16="http://schemas.microsoft.com/office/drawing/2014/main" id="{AB939E7B-7A1E-4F82-8406-7790DEBF7B00}"/>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EB611BDE-B057-4A1F-A102-7BE19AC836D5}"/>
              </a:ext>
            </a:extLst>
          </p:cNvPr>
          <p:cNvSpPr>
            <a:spLocks xmlns:a="http://schemas.openxmlformats.org/drawingml/2006/main" noGrp="1"/>
          </p:cNvSpPr>
          <p:nvPr/>
        </p:nvSpPr>
        <p:spPr>
          <a:xfrm xmlns:a="http://schemas.openxmlformats.org/drawingml/2006/main">
            <a:off x="590550" y="197167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Core requirements</a:t>
            </a:r>
          </a:p>
        </p:txBody>
      </p:sp>
      <p:sp>
        <p:nvSpPr>
          <p:cNvPr id="5" name="">
            <a:extLst xmlns:a="http://schemas.openxmlformats.org/drawingml/2006/main">
              <a:ext uri="{FF2B5EF4-FFF2-40B4-BE49-F238E27FC236}">
                <a16:creationId xmlns:a16="http://schemas.microsoft.com/office/drawing/2014/main" id="{4E5726E5-77F8-432A-A273-3A3FDEA61D5A}"/>
              </a:ext>
            </a:extLst>
          </p:cNvPr>
          <p:cNvSpPr>
            <a:spLocks xmlns:a="http://schemas.openxmlformats.org/drawingml/2006/main" noGrp="1"/>
          </p:cNvSpPr>
          <p:nvPr/>
        </p:nvSpPr>
        <p:spPr>
          <a:xfrm xmlns:a="http://schemas.openxmlformats.org/drawingml/2006/main">
            <a:off x="590550" y="2619375"/>
            <a:ext cx="521970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Live transcript with speaker labels</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Key points, action items and question support</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Always-on-top overlay with global hotkeys</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Screen-share masking to be verified across meeting apps</a:t>
            </a:r>
          </a:p>
        </p:txBody>
      </p:sp>
      <p:sp>
        <p:nvSpPr>
          <p:cNvPr id="6" name="">
            <a:extLst xmlns:a="http://schemas.openxmlformats.org/drawingml/2006/main">
              <a:ext uri="{FF2B5EF4-FFF2-40B4-BE49-F238E27FC236}">
                <a16:creationId xmlns:a16="http://schemas.microsoft.com/office/drawing/2014/main" id="{6EFDF09F-9BAE-4B67-A2B4-C9E149363A13}"/>
              </a:ext>
            </a:extLst>
          </p:cNvPr>
          <p:cNvSpPr>
            <a:spLocks xmlns:a="http://schemas.openxmlformats.org/drawingml/2006/main" noGrp="1"/>
          </p:cNvSpPr>
          <p:nvPr/>
        </p:nvSpPr>
        <p:spPr>
          <a:xfrm xmlns:a="http://schemas.openxmlformats.org/drawingml/2006/main">
            <a:off x="6572250" y="1971675"/>
            <a:ext cx="5019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Additional features</a:t>
            </a:r>
          </a:p>
        </p:txBody>
      </p:sp>
      <p:sp>
        <p:nvSpPr>
          <p:cNvPr id="7" name="">
            <a:extLst xmlns:a="http://schemas.openxmlformats.org/drawingml/2006/main">
              <a:ext uri="{FF2B5EF4-FFF2-40B4-BE49-F238E27FC236}">
                <a16:creationId xmlns:a16="http://schemas.microsoft.com/office/drawing/2014/main" id="{7C435E52-D4F5-497E-A619-9CC5EBDDB846}"/>
              </a:ext>
            </a:extLst>
          </p:cNvPr>
          <p:cNvSpPr>
            <a:spLocks xmlns:a="http://schemas.openxmlformats.org/drawingml/2006/main" noGrp="1"/>
          </p:cNvSpPr>
          <p:nvPr/>
        </p:nvSpPr>
        <p:spPr>
          <a:xfrm xmlns:a="http://schemas.openxmlformats.org/drawingml/2006/main">
            <a:off x="6572250" y="2619375"/>
            <a:ext cx="4857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Optional PDF or DOCX reference context</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Post-meeting participation measures and coaching</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Stored results for comparison across meetings</a:t>
            </a:r>
          </a:p>
        </p:txBody>
      </p:sp>
      <p:sp>
        <p:nvSpPr>
          <p:cNvPr id="8" name="">
            <a:extLst xmlns:a="http://schemas.openxmlformats.org/drawingml/2006/main">
              <a:ext uri="{FF2B5EF4-FFF2-40B4-BE49-F238E27FC236}">
                <a16:creationId xmlns:a16="http://schemas.microsoft.com/office/drawing/2014/main" id="{8E1073A8-6C45-4979-94B7-C60AA070FCD3}"/>
              </a:ext>
            </a:extLst>
          </p:cNvPr>
          <p:cNvSpPr>
            <a:spLocks xmlns:a="http://schemas.openxmlformats.org/drawingml/2006/main" noGrp="1"/>
          </p:cNvSpPr>
          <p:nvPr/>
        </p:nvSpPr>
        <p:spPr>
          <a:xfrm xmlns:a="http://schemas.openxmlformats.org/drawingml/2006/main">
            <a:off x="590550" y="5991225"/>
            <a:ext cx="10744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Capture starts locally. Cloud APIs provide transcription and reasoning.</a:t>
            </a:r>
          </a:p>
        </p:txBody>
      </p:sp>
    </p:spTree>
    <p:extLst>
      <p:ext uri="{BB962C8B-B14F-4D97-AF65-F5344CB8AC3E}">
        <p14:creationId xmlns:p14="http://schemas.microsoft.com/office/powerpoint/2010/main" val="1285276171"/>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B88CFE-CAF8-4F30-8038-5831A28F732F}"/>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Project goals and milestones</a:t>
            </a:r>
          </a:p>
        </p:txBody>
      </p:sp>
      <p:sp>
        <p:nvSpPr>
          <p:cNvPr id="2" name="">
            <a:extLst xmlns:a="http://schemas.openxmlformats.org/drawingml/2006/main">
              <a:ext uri="{FF2B5EF4-FFF2-40B4-BE49-F238E27FC236}">
                <a16:creationId xmlns:a16="http://schemas.microsoft.com/office/drawing/2014/main" id="{6614E7A1-7856-4560-966F-8985487F030A}"/>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The plan links each goal to a delivery week and a verification method.</a:t>
            </a:r>
          </a:p>
        </p:txBody>
      </p:sp>
      <p:sp>
        <p:nvSpPr>
          <p:cNvPr id="3" name="">
            <a:extLst xmlns:a="http://schemas.openxmlformats.org/drawingml/2006/main">
              <a:ext uri="{FF2B5EF4-FFF2-40B4-BE49-F238E27FC236}">
                <a16:creationId xmlns:a16="http://schemas.microsoft.com/office/drawing/2014/main" id="{FEBFA27D-E187-4B06-9444-992A797E0283}"/>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04</a:t>
            </a:r>
          </a:p>
        </p:txBody>
      </p:sp>
      <p:graphicFrame>
        <p:nvGraphicFramePr>
          <p:cNvPr id="9" name=""/>
          <p:cNvGraphicFramePr/>
          <p:nvPr/>
        </p:nvGraphicFramePr>
        <p:xfrm>
          <a:off xmlns:a="http://schemas.openxmlformats.org/drawingml/2006/main" x="571500" y="1809750"/>
          <a:ext xmlns:a="http://schemas.openxmlformats.org/drawingml/2006/main" cx="11049000" cy="3771900"/>
        </p:xfrm>
        <a:graphic xmlns:a="http://schemas.openxmlformats.org/drawingml/2006/main">
          <a:graphicData uri="http://schemas.openxmlformats.org/drawingml/2006/table">
            <a:tbl>
              <a:tblPr/>
              <a:tblGrid>
                <a:gridCol w="3333750"/>
                <a:gridCol w="1381125"/>
                <a:gridCol w="6334125"/>
              </a:tblGrid>
              <a:tr h="628650">
                <a:tc>
                  <a:txBody>
                    <a:bodyPr/>
                    <a:lstStyle/>
                    <a:p>
                      <a:r>
                        <a:rPr sz="1725" b="1">
                          <a:solidFill>
                            <a:srgbClr val="FFFFFF"/>
                          </a:solidFill>
                          <a:latin typeface="DejaVu Sans"/>
                          <a:ea typeface="DejaVu Sans"/>
                          <a:cs typeface="DejaVu Sans"/>
                        </a:rPr>
                        <a:t>Goal</a:t>
                      </a:r>
                    </a:p>
                  </a:txBody>
                  <a:tcPr marL="133350" marR="133350" marT="28575" marB="28575" anchor="ctr">
                    <a:solidFill>
                      <a:srgbClr val="142B40"/>
                    </a:solidFill>
                  </a:tcPr>
                </a:tc>
                <a:tc>
                  <a:txBody>
                    <a:bodyPr/>
                    <a:lstStyle/>
                    <a:p>
                      <a:r>
                        <a:rPr sz="1725" b="1">
                          <a:solidFill>
                            <a:srgbClr val="FFFFFF"/>
                          </a:solidFill>
                          <a:latin typeface="DejaVu Sans"/>
                          <a:ea typeface="DejaVu Sans"/>
                          <a:cs typeface="DejaVu Sans"/>
                        </a:rPr>
                        <a:t>Due</a:t>
                      </a:r>
                    </a:p>
                  </a:txBody>
                  <a:tcPr marL="133350" marR="133350" marT="28575" marB="28575" anchor="ctr">
                    <a:solidFill>
                      <a:srgbClr val="142B40"/>
                    </a:solidFill>
                  </a:tcPr>
                </a:tc>
                <a:tc>
                  <a:txBody>
                    <a:bodyPr/>
                    <a:lstStyle/>
                    <a:p>
                      <a:r>
                        <a:rPr sz="1725" b="1">
                          <a:solidFill>
                            <a:srgbClr val="FFFFFF"/>
                          </a:solidFill>
                          <a:latin typeface="DejaVu Sans"/>
                          <a:ea typeface="DejaVu Sans"/>
                          <a:cs typeface="DejaVu Sans"/>
                        </a:rPr>
                        <a:t>Target</a:t>
                      </a:r>
                    </a:p>
                  </a:txBody>
                  <a:tcPr marL="133350" marR="133350" marT="28575" marB="28575" anchor="ctr">
                    <a:solidFill>
                      <a:srgbClr val="142B40"/>
                    </a:solidFill>
                  </a:tcPr>
                </a:tc>
              </a:tr>
              <a:tr h="628650">
                <a:tc>
                  <a:txBody>
                    <a:bodyPr/>
                    <a:lstStyle/>
                    <a:p>
                      <a:r>
                        <a:rPr sz="1800" b="1">
                          <a:solidFill>
                            <a:srgbClr val="20374A"/>
                          </a:solidFill>
                          <a:latin typeface="DejaVu Sans"/>
                          <a:ea typeface="DejaVu Sans"/>
                          <a:cs typeface="DejaVu Sans"/>
                        </a:rPr>
                        <a:t>Live capture and transcript</a:t>
                      </a:r>
                    </a:p>
                  </a:txBody>
                  <a:tcPr marL="133350" marR="133350" marT="28575" marB="28575" anchor="ctr">
                    <a:solidFill>
                      <a:srgbClr val="F7F9FA"/>
                    </a:solidFill>
                  </a:tcPr>
                </a:tc>
                <a:tc>
                  <a:txBody>
                    <a:bodyPr/>
                    <a:lstStyle/>
                    <a:p>
                      <a:r>
                        <a:rPr sz="1800" b="0">
                          <a:solidFill>
                            <a:srgbClr val="20374A"/>
                          </a:solidFill>
                          <a:latin typeface="DejaVu Sans"/>
                          <a:ea typeface="DejaVu Sans"/>
                          <a:cs typeface="DejaVu Sans"/>
                        </a:rPr>
                        <a:t>Week 5</a:t>
                      </a:r>
                    </a:p>
                  </a:txBody>
                  <a:tcPr marL="133350" marR="133350" marT="28575" marB="28575" anchor="ctr">
                    <a:solidFill>
                      <a:srgbClr val="F7F9FA"/>
                    </a:solidFill>
                  </a:tcPr>
                </a:tc>
                <a:tc>
                  <a:txBody>
                    <a:bodyPr/>
                    <a:lstStyle/>
                    <a:p>
                      <a:r>
                        <a:rPr sz="1800" b="0">
                          <a:solidFill>
                            <a:srgbClr val="20374A"/>
                          </a:solidFill>
                          <a:latin typeface="DejaVu Sans"/>
                          <a:ea typeface="DejaVu Sans"/>
                          <a:cs typeface="DejaVu Sans"/>
                        </a:rPr>
                        <a:t>Speaker labels and token latency below 400 ms</a:t>
                      </a:r>
                    </a:p>
                  </a:txBody>
                  <a:tcPr marL="133350" marR="133350" marT="28575" marB="28575" anchor="ctr">
                    <a:solidFill>
                      <a:srgbClr val="F7F9FA"/>
                    </a:solidFill>
                  </a:tcPr>
                </a:tc>
              </a:tr>
              <a:tr h="628650">
                <a:tc>
                  <a:txBody>
                    <a:bodyPr/>
                    <a:lstStyle/>
                    <a:p>
                      <a:r>
                        <a:rPr sz="1800" b="1">
                          <a:solidFill>
                            <a:srgbClr val="20374A"/>
                          </a:solidFill>
                          <a:latin typeface="DejaVu Sans"/>
                          <a:ea typeface="DejaVu Sans"/>
                          <a:cs typeface="DejaVu Sans"/>
                        </a:rPr>
                        <a:t>Overlay controls</a:t>
                      </a:r>
                    </a:p>
                  </a:txBody>
                  <a:tcPr marL="133350" marR="133350" marT="28575" marB="28575" anchor="ctr">
                    <a:solidFill>
                      <a:srgbClr val="FFFFFF"/>
                    </a:solidFill>
                  </a:tcPr>
                </a:tc>
                <a:tc>
                  <a:txBody>
                    <a:bodyPr/>
                    <a:lstStyle/>
                    <a:p>
                      <a:r>
                        <a:rPr sz="1800" b="0">
                          <a:solidFill>
                            <a:srgbClr val="20374A"/>
                          </a:solidFill>
                          <a:latin typeface="DejaVu Sans"/>
                          <a:ea typeface="DejaVu Sans"/>
                          <a:cs typeface="DejaVu Sans"/>
                        </a:rPr>
                        <a:t>Week 5</a:t>
                      </a:r>
                    </a:p>
                  </a:txBody>
                  <a:tcPr marL="133350" marR="133350" marT="28575" marB="28575" anchor="ctr">
                    <a:solidFill>
                      <a:srgbClr val="FFFFFF"/>
                    </a:solidFill>
                  </a:tcPr>
                </a:tc>
                <a:tc>
                  <a:txBody>
                    <a:bodyPr/>
                    <a:lstStyle/>
                    <a:p>
                      <a:r>
                        <a:rPr sz="1800" b="0">
                          <a:solidFill>
                            <a:srgbClr val="20374A"/>
                          </a:solidFill>
                          <a:latin typeface="DejaVu Sans"/>
                          <a:ea typeface="DejaVu Sans"/>
                          <a:cs typeface="DejaVu Sans"/>
                        </a:rPr>
                        <a:t>Masking and hotkey checks on Zoom, Teams and Meet</a:t>
                      </a:r>
                    </a:p>
                  </a:txBody>
                  <a:tcPr marL="133350" marR="133350" marT="28575" marB="28575" anchor="ctr">
                    <a:solidFill>
                      <a:srgbClr val="FFFFFF"/>
                    </a:solidFill>
                  </a:tcPr>
                </a:tc>
              </a:tr>
              <a:tr h="628650">
                <a:tc>
                  <a:txBody>
                    <a:bodyPr/>
                    <a:lstStyle/>
                    <a:p>
                      <a:r>
                        <a:rPr sz="1800" b="1">
                          <a:solidFill>
                            <a:srgbClr val="20374A"/>
                          </a:solidFill>
                          <a:latin typeface="DejaVu Sans"/>
                          <a:ea typeface="DejaVu Sans"/>
                          <a:cs typeface="DejaVu Sans"/>
                        </a:rPr>
                        <a:t>Document context</a:t>
                      </a:r>
                    </a:p>
                  </a:txBody>
                  <a:tcPr marL="133350" marR="133350" marT="28575" marB="28575" anchor="ctr">
                    <a:solidFill>
                      <a:srgbClr val="F7F9FA"/>
                    </a:solidFill>
                  </a:tcPr>
                </a:tc>
                <a:tc>
                  <a:txBody>
                    <a:bodyPr/>
                    <a:lstStyle/>
                    <a:p>
                      <a:r>
                        <a:rPr sz="1800" b="0">
                          <a:solidFill>
                            <a:srgbClr val="20374A"/>
                          </a:solidFill>
                          <a:latin typeface="DejaVu Sans"/>
                          <a:ea typeface="DejaVu Sans"/>
                          <a:cs typeface="DejaVu Sans"/>
                        </a:rPr>
                        <a:t>Week 6</a:t>
                      </a:r>
                    </a:p>
                  </a:txBody>
                  <a:tcPr marL="133350" marR="133350" marT="28575" marB="28575" anchor="ctr">
                    <a:solidFill>
                      <a:srgbClr val="F7F9FA"/>
                    </a:solidFill>
                  </a:tcPr>
                </a:tc>
                <a:tc>
                  <a:txBody>
                    <a:bodyPr/>
                    <a:lstStyle/>
                    <a:p>
                      <a:r>
                        <a:rPr sz="1800" b="0">
                          <a:solidFill>
                            <a:srgbClr val="20374A"/>
                          </a:solidFill>
                          <a:latin typeface="DejaVu Sans"/>
                          <a:ea typeface="DejaVu Sans"/>
                          <a:cs typeface="DejaVu Sans"/>
                        </a:rPr>
                        <a:t>Relevant chunks tested against five documents</a:t>
                      </a:r>
                    </a:p>
                  </a:txBody>
                  <a:tcPr marL="133350" marR="133350" marT="28575" marB="28575" anchor="ctr">
                    <a:solidFill>
                      <a:srgbClr val="F7F9FA"/>
                    </a:solidFill>
                  </a:tcPr>
                </a:tc>
              </a:tr>
              <a:tr h="628650">
                <a:tc>
                  <a:txBody>
                    <a:bodyPr/>
                    <a:lstStyle/>
                    <a:p>
                      <a:r>
                        <a:rPr sz="1800" b="1">
                          <a:solidFill>
                            <a:srgbClr val="20374A"/>
                          </a:solidFill>
                          <a:latin typeface="DejaVu Sans"/>
                          <a:ea typeface="DejaVu Sans"/>
                          <a:cs typeface="DejaVu Sans"/>
                        </a:rPr>
                        <a:t>Live insight generation</a:t>
                      </a:r>
                    </a:p>
                  </a:txBody>
                  <a:tcPr marL="133350" marR="133350" marT="28575" marB="28575" anchor="ctr">
                    <a:solidFill>
                      <a:srgbClr val="FFFFFF"/>
                    </a:solidFill>
                  </a:tcPr>
                </a:tc>
                <a:tc>
                  <a:txBody>
                    <a:bodyPr/>
                    <a:lstStyle/>
                    <a:p>
                      <a:r>
                        <a:rPr sz="1800" b="0">
                          <a:solidFill>
                            <a:srgbClr val="20374A"/>
                          </a:solidFill>
                          <a:latin typeface="DejaVu Sans"/>
                          <a:ea typeface="DejaVu Sans"/>
                          <a:cs typeface="DejaVu Sans"/>
                        </a:rPr>
                        <a:t>Week 7</a:t>
                      </a:r>
                    </a:p>
                  </a:txBody>
                  <a:tcPr marL="133350" marR="133350" marT="28575" marB="28575" anchor="ctr">
                    <a:solidFill>
                      <a:srgbClr val="FFFFFF"/>
                    </a:solidFill>
                  </a:tcPr>
                </a:tc>
                <a:tc>
                  <a:txBody>
                    <a:bodyPr/>
                    <a:lstStyle/>
                    <a:p>
                      <a:r>
                        <a:rPr sz="1800" b="0">
                          <a:solidFill>
                            <a:srgbClr val="20374A"/>
                          </a:solidFill>
                          <a:latin typeface="DejaVu Sans"/>
                          <a:ea typeface="DejaVu Sans"/>
                          <a:cs typeface="DejaVu Sans"/>
                        </a:rPr>
                        <a:t>Refresh within 15 s and flag ≥75% of unanswered questions</a:t>
                      </a:r>
                    </a:p>
                  </a:txBody>
                  <a:tcPr marL="133350" marR="133350" marT="28575" marB="28575" anchor="ctr">
                    <a:solidFill>
                      <a:srgbClr val="FFFFFF"/>
                    </a:solidFill>
                  </a:tcPr>
                </a:tc>
              </a:tr>
              <a:tr h="628650">
                <a:tc>
                  <a:txBody>
                    <a:bodyPr/>
                    <a:lstStyle/>
                    <a:p>
                      <a:r>
                        <a:rPr sz="1800" b="1">
                          <a:solidFill>
                            <a:srgbClr val="20374A"/>
                          </a:solidFill>
                          <a:latin typeface="DejaVu Sans"/>
                          <a:ea typeface="DejaVu Sans"/>
                          <a:cs typeface="DejaVu Sans"/>
                        </a:rPr>
                        <a:t>Coaching and comparison</a:t>
                      </a:r>
                    </a:p>
                  </a:txBody>
                  <a:tcPr marL="133350" marR="133350" marT="28575" marB="28575" anchor="ctr">
                    <a:solidFill>
                      <a:srgbClr val="F7F9FA"/>
                    </a:solidFill>
                  </a:tcPr>
                </a:tc>
                <a:tc>
                  <a:txBody>
                    <a:bodyPr/>
                    <a:lstStyle/>
                    <a:p>
                      <a:r>
                        <a:rPr sz="1800" b="0">
                          <a:solidFill>
                            <a:srgbClr val="20374A"/>
                          </a:solidFill>
                          <a:latin typeface="DejaVu Sans"/>
                          <a:ea typeface="DejaVu Sans"/>
                          <a:cs typeface="DejaVu Sans"/>
                        </a:rPr>
                        <a:t>Week 9</a:t>
                      </a:r>
                    </a:p>
                  </a:txBody>
                  <a:tcPr marL="133350" marR="133350" marT="28575" marB="28575" anchor="ctr">
                    <a:solidFill>
                      <a:srgbClr val="F7F9FA"/>
                    </a:solidFill>
                  </a:tcPr>
                </a:tc>
                <a:tc>
                  <a:txBody>
                    <a:bodyPr/>
                    <a:lstStyle/>
                    <a:p>
                      <a:r>
                        <a:rPr sz="1800" b="0">
                          <a:solidFill>
                            <a:srgbClr val="20374A"/>
                          </a:solidFill>
                          <a:latin typeface="DejaVu Sans"/>
                          <a:ea typeface="DejaVu Sans"/>
                          <a:cs typeface="DejaVu Sans"/>
                        </a:rPr>
                        <a:t>Speaker measures and a comparison across two meetings</a:t>
                      </a:r>
                    </a:p>
                  </a:txBody>
                  <a:tcPr marL="133350" marR="133350" marT="28575" marB="28575" anchor="ctr">
                    <a:solidFill>
                      <a:srgbClr val="F7F9FA"/>
                    </a:solidFill>
                  </a:tcPr>
                </a:tc>
              </a:tr>
            </a:tbl>
          </a:graphicData>
        </a:graphic>
      </p:graphicFrame>
      <p:sp>
        <p:nvSpPr>
          <p:cNvPr id="5" name="">
            <a:extLst xmlns:a="http://schemas.openxmlformats.org/drawingml/2006/main">
              <a:ext uri="{FF2B5EF4-FFF2-40B4-BE49-F238E27FC236}">
                <a16:creationId xmlns:a16="http://schemas.microsoft.com/office/drawing/2014/main" id="{C5A4A085-0A9E-4F21-B741-C70369AEE61B}"/>
              </a:ext>
            </a:extLst>
          </p:cNvPr>
          <p:cNvSpPr>
            <a:spLocks xmlns:a="http://schemas.openxmlformats.org/drawingml/2006/main" noGrp="1"/>
          </p:cNvSpPr>
          <p:nvPr/>
        </p:nvSpPr>
        <p:spPr>
          <a:xfrm xmlns:a="http://schemas.openxmlformats.org/drawingml/2006/main">
            <a:off x="590550" y="5838825"/>
            <a:ext cx="10629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Throughout: warning-free static analysis and unit tests for parsing and relevance logic.</a:t>
            </a:r>
          </a:p>
        </p:txBody>
      </p:sp>
    </p:spTree>
    <p:extLst>
      <p:ext uri="{BB962C8B-B14F-4D97-AF65-F5344CB8AC3E}">
        <p14:creationId xmlns:p14="http://schemas.microsoft.com/office/powerpoint/2010/main" val="420132572"/>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2105A7-314F-42BD-BE68-AD5CAE11CA30}"/>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System workflow</a:t>
            </a:r>
          </a:p>
        </p:txBody>
      </p:sp>
      <p:sp>
        <p:nvSpPr>
          <p:cNvPr id="2" name="">
            <a:extLst xmlns:a="http://schemas.openxmlformats.org/drawingml/2006/main">
              <a:ext uri="{FF2B5EF4-FFF2-40B4-BE49-F238E27FC236}">
                <a16:creationId xmlns:a16="http://schemas.microsoft.com/office/drawing/2014/main" id="{2EC6079C-EF90-4A66-B261-1EF30D45159F}"/>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Six stages connect meeting audio with live assistance and later coaching.</a:t>
            </a:r>
          </a:p>
        </p:txBody>
      </p:sp>
      <p:sp>
        <p:nvSpPr>
          <p:cNvPr id="3" name="">
            <a:extLst xmlns:a="http://schemas.openxmlformats.org/drawingml/2006/main">
              <a:ext uri="{FF2B5EF4-FFF2-40B4-BE49-F238E27FC236}">
                <a16:creationId xmlns:a16="http://schemas.microsoft.com/office/drawing/2014/main" id="{DB87B24C-E631-4B57-8066-1CFB8E176B7F}"/>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05</a:t>
            </a:r>
          </a:p>
        </p:txBody>
      </p:sp>
      <p:graphicFrame>
        <p:nvGraphicFramePr>
          <p:cNvPr id="8" name=""/>
          <p:cNvGraphicFramePr/>
          <p:nvPr/>
        </p:nvGraphicFramePr>
        <p:xfrm>
          <a:off xmlns:a="http://schemas.openxmlformats.org/drawingml/2006/main" x="571500" y="1743075"/>
          <a:ext xmlns:a="http://schemas.openxmlformats.org/drawingml/2006/main" cx="11049000" cy="4210050"/>
        </p:xfrm>
        <a:graphic xmlns:a="http://schemas.openxmlformats.org/drawingml/2006/main">
          <a:graphicData uri="http://schemas.openxmlformats.org/drawingml/2006/table">
            <a:tbl>
              <a:tblPr/>
              <a:tblGrid>
                <a:gridCol w="2476500"/>
                <a:gridCol w="4114800"/>
                <a:gridCol w="4457700"/>
              </a:tblGrid>
              <a:tr h="601436">
                <a:tc>
                  <a:txBody>
                    <a:bodyPr/>
                    <a:lstStyle/>
                    <a:p>
                      <a:r>
                        <a:rPr sz="1650" b="1">
                          <a:solidFill>
                            <a:srgbClr val="FFFFFF"/>
                          </a:solidFill>
                          <a:latin typeface="DejaVu Sans"/>
                          <a:ea typeface="DejaVu Sans"/>
                          <a:cs typeface="DejaVu Sans"/>
                        </a:rPr>
                        <a:t>Stage</a:t>
                      </a:r>
                    </a:p>
                  </a:txBody>
                  <a:tcPr marL="133350" marR="133350" marT="28575" marB="28575" anchor="ctr">
                    <a:solidFill>
                      <a:srgbClr val="142B40"/>
                    </a:solidFill>
                  </a:tcPr>
                </a:tc>
                <a:tc>
                  <a:txBody>
                    <a:bodyPr/>
                    <a:lstStyle/>
                    <a:p>
                      <a:r>
                        <a:rPr sz="1650" b="1">
                          <a:solidFill>
                            <a:srgbClr val="FFFFFF"/>
                          </a:solidFill>
                          <a:latin typeface="DejaVu Sans"/>
                          <a:ea typeface="DejaVu Sans"/>
                          <a:cs typeface="DejaVu Sans"/>
                        </a:rPr>
                        <a:t>Processing</a:t>
                      </a:r>
                    </a:p>
                  </a:txBody>
                  <a:tcPr marL="133350" marR="133350" marT="28575" marB="28575" anchor="ctr">
                    <a:solidFill>
                      <a:srgbClr val="142B40"/>
                    </a:solidFill>
                  </a:tcPr>
                </a:tc>
                <a:tc>
                  <a:txBody>
                    <a:bodyPr/>
                    <a:lstStyle/>
                    <a:p>
                      <a:r>
                        <a:rPr sz="1650" b="1">
                          <a:solidFill>
                            <a:srgbClr val="FFFFFF"/>
                          </a:solidFill>
                          <a:latin typeface="DejaVu Sans"/>
                          <a:ea typeface="DejaVu Sans"/>
                          <a:cs typeface="DejaVu Sans"/>
                        </a:rPr>
                        <a:t>Output</a:t>
                      </a:r>
                    </a:p>
                  </a:txBody>
                  <a:tcPr marL="133350" marR="133350" marT="28575" marB="28575" anchor="ctr">
                    <a:solidFill>
                      <a:srgbClr val="142B40"/>
                    </a:solidFill>
                  </a:tcPr>
                </a:tc>
              </a:tr>
              <a:tr h="601436">
                <a:tc>
                  <a:txBody>
                    <a:bodyPr/>
                    <a:lstStyle/>
                    <a:p>
                      <a:r>
                        <a:rPr sz="1725" b="1">
                          <a:solidFill>
                            <a:srgbClr val="20374A"/>
                          </a:solidFill>
                          <a:latin typeface="DejaVu Sans"/>
                          <a:ea typeface="DejaVu Sans"/>
                          <a:cs typeface="DejaVu Sans"/>
                        </a:rPr>
                        <a:t>1. Audio capture</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Native Swift services on macOS</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Microphone and system audio</a:t>
                      </a:r>
                    </a:p>
                  </a:txBody>
                  <a:tcPr marL="133350" marR="133350" marT="28575" marB="28575" anchor="ctr">
                    <a:solidFill>
                      <a:srgbClr val="F7F9FA"/>
                    </a:solidFill>
                  </a:tcPr>
                </a:tc>
              </a:tr>
              <a:tr h="601436">
                <a:tc>
                  <a:txBody>
                    <a:bodyPr/>
                    <a:lstStyle/>
                    <a:p>
                      <a:r>
                        <a:rPr sz="1725" b="1">
                          <a:solidFill>
                            <a:srgbClr val="20374A"/>
                          </a:solidFill>
                          <a:latin typeface="DejaVu Sans"/>
                          <a:ea typeface="DejaVu Sans"/>
                          <a:cs typeface="DejaVu Sans"/>
                        </a:rPr>
                        <a:t>2. Speech recognition</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Deepgram Nova-2 cloud API</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Transcript, timestamps and speaker labels</a:t>
                      </a:r>
                    </a:p>
                  </a:txBody>
                  <a:tcPr marL="133350" marR="133350" marT="28575" marB="28575" anchor="ctr">
                    <a:solidFill>
                      <a:srgbClr val="FFFFFF"/>
                    </a:solidFill>
                  </a:tcPr>
                </a:tc>
              </a:tr>
              <a:tr h="601436">
                <a:tc>
                  <a:txBody>
                    <a:bodyPr/>
                    <a:lstStyle/>
                    <a:p>
                      <a:r>
                        <a:rPr sz="1725" b="1">
                          <a:solidFill>
                            <a:srgbClr val="20374A"/>
                          </a:solidFill>
                          <a:latin typeface="DejaVu Sans"/>
                          <a:ea typeface="DejaVu Sans"/>
                          <a:cs typeface="DejaVu Sans"/>
                        </a:rPr>
                        <a:t>3. Context building</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Local transcript and document matching</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Rolling context with relevant document chunks</a:t>
                      </a:r>
                    </a:p>
                  </a:txBody>
                  <a:tcPr marL="133350" marR="133350" marT="28575" marB="28575" anchor="ctr">
                    <a:solidFill>
                      <a:srgbClr val="F7F9FA"/>
                    </a:solidFill>
                  </a:tcPr>
                </a:tc>
              </a:tr>
              <a:tr h="601436">
                <a:tc>
                  <a:txBody>
                    <a:bodyPr/>
                    <a:lstStyle/>
                    <a:p>
                      <a:r>
                        <a:rPr sz="1725" b="1">
                          <a:solidFill>
                            <a:srgbClr val="20374A"/>
                          </a:solidFill>
                          <a:latin typeface="DejaVu Sans"/>
                          <a:ea typeface="DejaVu Sans"/>
                          <a:cs typeface="DejaVu Sans"/>
                        </a:rPr>
                        <a:t>4. Reasoning</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Google Gemini cloud API</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Structured suggestions, actions and questions</a:t>
                      </a:r>
                    </a:p>
                  </a:txBody>
                  <a:tcPr marL="133350" marR="133350" marT="28575" marB="28575" anchor="ctr">
                    <a:solidFill>
                      <a:srgbClr val="FFFFFF"/>
                    </a:solidFill>
                  </a:tcPr>
                </a:tc>
              </a:tr>
              <a:tr h="601436">
                <a:tc>
                  <a:txBody>
                    <a:bodyPr/>
                    <a:lstStyle/>
                    <a:p>
                      <a:r>
                        <a:rPr sz="1725" b="1">
                          <a:solidFill>
                            <a:srgbClr val="20374A"/>
                          </a:solidFill>
                          <a:latin typeface="DejaVu Sans"/>
                          <a:ea typeface="DejaVu Sans"/>
                          <a:cs typeface="DejaVu Sans"/>
                        </a:rPr>
                        <a:t>5. Live overlay</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Flutter desktop interface</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Insight cards and user controls</a:t>
                      </a:r>
                    </a:p>
                  </a:txBody>
                  <a:tcPr marL="133350" marR="133350" marT="28575" marB="28575" anchor="ctr">
                    <a:solidFill>
                      <a:srgbClr val="F7F9FA"/>
                    </a:solidFill>
                  </a:tcPr>
                </a:tc>
              </a:tr>
              <a:tr h="601436">
                <a:tc>
                  <a:txBody>
                    <a:bodyPr/>
                    <a:lstStyle/>
                    <a:p>
                      <a:r>
                        <a:rPr sz="1725" b="1">
                          <a:solidFill>
                            <a:srgbClr val="20374A"/>
                          </a:solidFill>
                          <a:latin typeface="DejaVu Sans"/>
                          <a:ea typeface="DejaVu Sans"/>
                          <a:cs typeface="DejaVu Sans"/>
                        </a:rPr>
                        <a:t>6. Coaching and history</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Speaker measures and planned storage</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Participation review and meeting comparison</a:t>
                      </a:r>
                    </a:p>
                  </a:txBody>
                  <a:tcPr marL="133350" marR="133350" marT="28575" marB="28575" anchor="ctr">
                    <a:solidFill>
                      <a:srgbClr val="FFFFFF"/>
                    </a:solidFill>
                  </a:tcPr>
                </a:tc>
              </a:tr>
            </a:tbl>
          </a:graphicData>
        </a:graphic>
      </p:graphicFrame>
    </p:spTree>
    <p:extLst>
      <p:ext uri="{BB962C8B-B14F-4D97-AF65-F5344CB8AC3E}">
        <p14:creationId xmlns:p14="http://schemas.microsoft.com/office/powerpoint/2010/main" val="2000776260"/>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9C10F8-6173-48B7-9141-08A630FB0D62}"/>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Development approach and technology</a:t>
            </a:r>
          </a:p>
        </p:txBody>
      </p:sp>
      <p:sp>
        <p:nvSpPr>
          <p:cNvPr id="2" name="">
            <a:extLst xmlns:a="http://schemas.openxmlformats.org/drawingml/2006/main">
              <a:ext uri="{FF2B5EF4-FFF2-40B4-BE49-F238E27FC236}">
                <a16:creationId xmlns:a16="http://schemas.microsoft.com/office/drawing/2014/main" id="{ED3AB3AE-1480-4110-822A-689549B9E5A0}"/>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A solo iterative project with a visible increment each week.</a:t>
            </a:r>
          </a:p>
        </p:txBody>
      </p:sp>
      <p:sp>
        <p:nvSpPr>
          <p:cNvPr id="3" name="">
            <a:extLst xmlns:a="http://schemas.openxmlformats.org/drawingml/2006/main">
              <a:ext uri="{FF2B5EF4-FFF2-40B4-BE49-F238E27FC236}">
                <a16:creationId xmlns:a16="http://schemas.microsoft.com/office/drawing/2014/main" id="{7DBB1239-9C9C-4AE2-BE5E-F9632E70F276}"/>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A62254AF-C17D-481E-AF98-647CA6AEE746}"/>
              </a:ext>
            </a:extLst>
          </p:cNvPr>
          <p:cNvSpPr>
            <a:spLocks xmlns:a="http://schemas.openxmlformats.org/drawingml/2006/main" noGrp="1"/>
          </p:cNvSpPr>
          <p:nvPr/>
        </p:nvSpPr>
        <p:spPr>
          <a:xfrm xmlns:a="http://schemas.openxmlformats.org/drawingml/2006/main">
            <a:off x="590550" y="2009775"/>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Development method</a:t>
            </a:r>
          </a:p>
        </p:txBody>
      </p:sp>
      <p:sp>
        <p:nvSpPr>
          <p:cNvPr id="5" name="">
            <a:extLst xmlns:a="http://schemas.openxmlformats.org/drawingml/2006/main">
              <a:ext uri="{FF2B5EF4-FFF2-40B4-BE49-F238E27FC236}">
                <a16:creationId xmlns:a16="http://schemas.microsoft.com/office/drawing/2014/main" id="{C294FB79-7519-4229-A51A-4FA5EA5984C1}"/>
              </a:ext>
            </a:extLst>
          </p:cNvPr>
          <p:cNvSpPr>
            <a:spLocks xmlns:a="http://schemas.openxmlformats.org/drawingml/2006/main" noGrp="1"/>
          </p:cNvSpPr>
          <p:nvPr/>
        </p:nvSpPr>
        <p:spPr>
          <a:xfrm xmlns:a="http://schemas.openxmlformats.org/drawingml/2006/main">
            <a:off x="590550" y="2657475"/>
            <a:ext cx="5200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Plan one weekly increment against the milestones.</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Build and test small features in separate layers.</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Log progress before the next work session.</a:t>
            </a:r>
          </a:p>
          <a:p xmlns:a="http://schemas.openxmlformats.org/drawingml/2006/main">
            <a:pPr marL="241300" indent="-139700">
              <a:spcAft>
                <a:spcPts val="1400"/>
              </a:spcAft>
              <a:buChar char="•"/>
              <a:defRPr sz="1950" b="0">
                <a:solidFill>
                  <a:srgbClr val="20374A"/>
                </a:solidFill>
                <a:latin typeface="DejaVu Sans"/>
                <a:ea typeface="DejaVu Sans"/>
                <a:cs typeface="DejaVu Sans"/>
              </a:defRPr>
            </a:pPr>
            <a:r>
              <a:t>Review scope with the supervisor fortnightly.</a:t>
            </a:r>
          </a:p>
        </p:txBody>
      </p:sp>
      <p:sp>
        <p:nvSpPr>
          <p:cNvPr id="6" name="">
            <a:extLst xmlns:a="http://schemas.openxmlformats.org/drawingml/2006/main">
              <a:ext uri="{FF2B5EF4-FFF2-40B4-BE49-F238E27FC236}">
                <a16:creationId xmlns:a16="http://schemas.microsoft.com/office/drawing/2014/main" id="{59A69BF9-A341-46A1-9918-D26F9648D4FA}"/>
              </a:ext>
            </a:extLst>
          </p:cNvPr>
          <p:cNvSpPr>
            <a:spLocks xmlns:a="http://schemas.openxmlformats.org/drawingml/2006/main" noGrp="1"/>
          </p:cNvSpPr>
          <p:nvPr/>
        </p:nvSpPr>
        <p:spPr>
          <a:xfrm xmlns:a="http://schemas.openxmlformats.org/drawingml/2006/main">
            <a:off x="6591300" y="2009775"/>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Selected technology</a:t>
            </a:r>
          </a:p>
        </p:txBody>
      </p:sp>
      <p:sp>
        <p:nvSpPr>
          <p:cNvPr id="7" name="">
            <a:extLst xmlns:a="http://schemas.openxmlformats.org/drawingml/2006/main">
              <a:ext uri="{FF2B5EF4-FFF2-40B4-BE49-F238E27FC236}">
                <a16:creationId xmlns:a16="http://schemas.microsoft.com/office/drawing/2014/main" id="{3BA11896-76ED-4EC9-AA17-49C4F078CBA8}"/>
              </a:ext>
            </a:extLst>
          </p:cNvPr>
          <p:cNvSpPr>
            <a:spLocks xmlns:a="http://schemas.openxmlformats.org/drawingml/2006/main" noGrp="1"/>
          </p:cNvSpPr>
          <p:nvPr/>
        </p:nvSpPr>
        <p:spPr>
          <a:xfrm xmlns:a="http://schemas.openxmlformats.org/drawingml/2006/main">
            <a:off x="6591300" y="271462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B40"/>
                </a:solidFill>
                <a:latin typeface="DejaVu Sans"/>
                <a:ea typeface="DejaVu Sans"/>
                <a:cs typeface="DejaVu Sans"/>
              </a:defRPr>
            </a:pPr>
            <a:r>
              <a:rPr sz="2100" b="1">
                <a:solidFill>
                  <a:srgbClr val="142B40"/>
                </a:solidFill>
                <a:latin typeface="DejaVu Sans"/>
                <a:ea typeface="DejaVu Sans"/>
                <a:cs typeface="DejaVu Sans"/>
              </a:rPr>
              <a:t>Flutter, Dart and Swift</a:t>
            </a:r>
          </a:p>
        </p:txBody>
      </p:sp>
      <p:sp>
        <p:nvSpPr>
          <p:cNvPr id="8" name="">
            <a:extLst xmlns:a="http://schemas.openxmlformats.org/drawingml/2006/main">
              <a:ext uri="{FF2B5EF4-FFF2-40B4-BE49-F238E27FC236}">
                <a16:creationId xmlns:a16="http://schemas.microsoft.com/office/drawing/2014/main" id="{433B0C61-369E-41FF-B7AA-FEE1F270C50B}"/>
              </a:ext>
            </a:extLst>
          </p:cNvPr>
          <p:cNvSpPr>
            <a:spLocks xmlns:a="http://schemas.openxmlformats.org/drawingml/2006/main" noGrp="1"/>
          </p:cNvSpPr>
          <p:nvPr/>
        </p:nvSpPr>
        <p:spPr>
          <a:xfrm xmlns:a="http://schemas.openxmlformats.org/drawingml/2006/main">
            <a:off x="6591300" y="3152775"/>
            <a:ext cx="4838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374A"/>
                </a:solidFill>
                <a:latin typeface="DejaVu Sans"/>
                <a:ea typeface="DejaVu Sans"/>
                <a:cs typeface="DejaVu Sans"/>
              </a:defRPr>
            </a:pPr>
            <a:r>
              <a:rPr sz="1800" b="0">
                <a:solidFill>
                  <a:srgbClr val="20374A"/>
                </a:solidFill>
                <a:latin typeface="DejaVu Sans"/>
                <a:ea typeface="DejaVu Sans"/>
                <a:cs typeface="DejaVu Sans"/>
              </a:rPr>
              <a:t>Desktop interface and native macOS services</a:t>
            </a:r>
          </a:p>
        </p:txBody>
      </p:sp>
      <p:sp>
        <p:nvSpPr>
          <p:cNvPr id="9" name="">
            <a:extLst xmlns:a="http://schemas.openxmlformats.org/drawingml/2006/main">
              <a:ext uri="{FF2B5EF4-FFF2-40B4-BE49-F238E27FC236}">
                <a16:creationId xmlns:a16="http://schemas.microsoft.com/office/drawing/2014/main" id="{E9A19F43-40CD-47D1-9CF4-1645A55597B1}"/>
              </a:ext>
            </a:extLst>
          </p:cNvPr>
          <p:cNvSpPr>
            <a:spLocks xmlns:a="http://schemas.openxmlformats.org/drawingml/2006/main" noGrp="1"/>
          </p:cNvSpPr>
          <p:nvPr/>
        </p:nvSpPr>
        <p:spPr>
          <a:xfrm xmlns:a="http://schemas.openxmlformats.org/drawingml/2006/main">
            <a:off x="6591300" y="39147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B40"/>
                </a:solidFill>
                <a:latin typeface="DejaVu Sans"/>
                <a:ea typeface="DejaVu Sans"/>
                <a:cs typeface="DejaVu Sans"/>
              </a:defRPr>
            </a:pPr>
            <a:r>
              <a:rPr sz="2100" b="1">
                <a:solidFill>
                  <a:srgbClr val="142B40"/>
                </a:solidFill>
                <a:latin typeface="DejaVu Sans"/>
                <a:ea typeface="DejaVu Sans"/>
                <a:cs typeface="DejaVu Sans"/>
              </a:rPr>
              <a:t>Deepgram and Gemini 2.5 Flash</a:t>
            </a:r>
          </a:p>
        </p:txBody>
      </p:sp>
      <p:sp>
        <p:nvSpPr>
          <p:cNvPr id="10" name="">
            <a:extLst xmlns:a="http://schemas.openxmlformats.org/drawingml/2006/main">
              <a:ext uri="{FF2B5EF4-FFF2-40B4-BE49-F238E27FC236}">
                <a16:creationId xmlns:a16="http://schemas.microsoft.com/office/drawing/2014/main" id="{58A74077-1056-4206-AC62-64E75F52CBD5}"/>
              </a:ext>
            </a:extLst>
          </p:cNvPr>
          <p:cNvSpPr>
            <a:spLocks xmlns:a="http://schemas.openxmlformats.org/drawingml/2006/main" noGrp="1"/>
          </p:cNvSpPr>
          <p:nvPr/>
        </p:nvSpPr>
        <p:spPr>
          <a:xfrm xmlns:a="http://schemas.openxmlformats.org/drawingml/2006/main">
            <a:off x="6591300" y="4657725"/>
            <a:ext cx="4886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374A"/>
                </a:solidFill>
                <a:latin typeface="DejaVu Sans"/>
                <a:ea typeface="DejaVu Sans"/>
                <a:cs typeface="DejaVu Sans"/>
              </a:defRPr>
            </a:pPr>
            <a:r>
              <a:rPr sz="1800" b="0">
                <a:solidFill>
                  <a:srgbClr val="20374A"/>
                </a:solidFill>
                <a:latin typeface="DejaVu Sans"/>
                <a:ea typeface="DejaVu Sans"/>
                <a:cs typeface="DejaVu Sans"/>
              </a:rPr>
              <a:t>Speech recognition and structured insights</a:t>
            </a:r>
          </a:p>
        </p:txBody>
      </p:sp>
      <p:sp>
        <p:nvSpPr>
          <p:cNvPr id="11" name="">
            <a:extLst xmlns:a="http://schemas.openxmlformats.org/drawingml/2006/main">
              <a:ext uri="{FF2B5EF4-FFF2-40B4-BE49-F238E27FC236}">
                <a16:creationId xmlns:a16="http://schemas.microsoft.com/office/drawing/2014/main" id="{2F108582-D63B-4FC4-AC26-03BFAAA1917B}"/>
              </a:ext>
            </a:extLst>
          </p:cNvPr>
          <p:cNvSpPr>
            <a:spLocks xmlns:a="http://schemas.openxmlformats.org/drawingml/2006/main" noGrp="1"/>
          </p:cNvSpPr>
          <p:nvPr/>
        </p:nvSpPr>
        <p:spPr>
          <a:xfrm xmlns:a="http://schemas.openxmlformats.org/drawingml/2006/main">
            <a:off x="6591300" y="5457825"/>
            <a:ext cx="48863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Riverpod for state management</a:t>
            </a:r>
          </a:p>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GitHub Actions for automated checks</a:t>
            </a:r>
          </a:p>
        </p:txBody>
      </p:sp>
    </p:spTree>
    <p:extLst>
      <p:ext uri="{BB962C8B-B14F-4D97-AF65-F5344CB8AC3E}">
        <p14:creationId xmlns:p14="http://schemas.microsoft.com/office/powerpoint/2010/main" val="878233779"/>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1BB649-D339-44F3-AC25-F7EC71F6EAB4}"/>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Progress reported at the end of Week 4</a:t>
            </a:r>
          </a:p>
        </p:txBody>
      </p:sp>
      <p:sp>
        <p:nvSpPr>
          <p:cNvPr id="2" name="">
            <a:extLst xmlns:a="http://schemas.openxmlformats.org/drawingml/2006/main">
              <a:ext uri="{FF2B5EF4-FFF2-40B4-BE49-F238E27FC236}">
                <a16:creationId xmlns:a16="http://schemas.microsoft.com/office/drawing/2014/main" id="{B25A0A8E-F06E-4FDA-8C60-A5ACA89BADC5}"/>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The core macOS workflow is working, with reliability checks still in progress.</a:t>
            </a:r>
          </a:p>
        </p:txBody>
      </p:sp>
      <p:sp>
        <p:nvSpPr>
          <p:cNvPr id="3" name="">
            <a:extLst xmlns:a="http://schemas.openxmlformats.org/drawingml/2006/main">
              <a:ext uri="{FF2B5EF4-FFF2-40B4-BE49-F238E27FC236}">
                <a16:creationId xmlns:a16="http://schemas.microsoft.com/office/drawing/2014/main" id="{2371F68B-AF6E-4F7A-BF8D-9567FB60027E}"/>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05EB48E4-A1BA-40E5-A0F8-BE49F6839995}"/>
              </a:ext>
            </a:extLst>
          </p:cNvPr>
          <p:cNvSpPr>
            <a:spLocks xmlns:a="http://schemas.openxmlformats.org/drawingml/2006/main" noGrp="1"/>
          </p:cNvSpPr>
          <p:nvPr/>
        </p:nvSpPr>
        <p:spPr>
          <a:xfrm xmlns:a="http://schemas.openxmlformats.org/drawingml/2006/main">
            <a:off x="590550" y="1943100"/>
            <a:ext cx="5124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Working features</a:t>
            </a:r>
          </a:p>
        </p:txBody>
      </p:sp>
      <p:sp>
        <p:nvSpPr>
          <p:cNvPr id="5" name="">
            <a:extLst xmlns:a="http://schemas.openxmlformats.org/drawingml/2006/main">
              <a:ext uri="{FF2B5EF4-FFF2-40B4-BE49-F238E27FC236}">
                <a16:creationId xmlns:a16="http://schemas.microsoft.com/office/drawing/2014/main" id="{40EF2F72-650B-47F8-8EB1-F842D0E6A839}"/>
              </a:ext>
            </a:extLst>
          </p:cNvPr>
          <p:cNvSpPr>
            <a:spLocks xmlns:a="http://schemas.openxmlformats.org/drawingml/2006/main" noGrp="1"/>
          </p:cNvSpPr>
          <p:nvPr/>
        </p:nvSpPr>
        <p:spPr>
          <a:xfrm xmlns:a="http://schemas.openxmlformats.org/drawingml/2006/main">
            <a:off x="590550" y="2562225"/>
            <a:ext cx="522922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Microphone and system audio capture</a:t>
            </a:r>
          </a:p>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Live transcription and overlay modes</a:t>
            </a:r>
          </a:p>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Settings screen for API keys</a:t>
            </a:r>
          </a:p>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Document upload and relevance matching</a:t>
            </a:r>
          </a:p>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Meeting history with CSV export</a:t>
            </a:r>
          </a:p>
        </p:txBody>
      </p:sp>
      <p:sp>
        <p:nvSpPr>
          <p:cNvPr id="6" name="">
            <a:extLst xmlns:a="http://schemas.openxmlformats.org/drawingml/2006/main">
              <a:ext uri="{FF2B5EF4-FFF2-40B4-BE49-F238E27FC236}">
                <a16:creationId xmlns:a16="http://schemas.microsoft.com/office/drawing/2014/main" id="{C7998DC7-B12F-426F-8AF2-9054864960E5}"/>
              </a:ext>
            </a:extLst>
          </p:cNvPr>
          <p:cNvSpPr>
            <a:spLocks xmlns:a="http://schemas.openxmlformats.org/drawingml/2006/main" noGrp="1"/>
          </p:cNvSpPr>
          <p:nvPr/>
        </p:nvSpPr>
        <p:spPr>
          <a:xfrm xmlns:a="http://schemas.openxmlformats.org/drawingml/2006/main">
            <a:off x="6629400" y="194310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Current refinement</a:t>
            </a:r>
          </a:p>
        </p:txBody>
      </p:sp>
      <p:sp>
        <p:nvSpPr>
          <p:cNvPr id="7" name="">
            <a:extLst xmlns:a="http://schemas.openxmlformats.org/drawingml/2006/main">
              <a:ext uri="{FF2B5EF4-FFF2-40B4-BE49-F238E27FC236}">
                <a16:creationId xmlns:a16="http://schemas.microsoft.com/office/drawing/2014/main" id="{D0D6CDE7-71CF-40EE-BF96-79F7F930562E}"/>
              </a:ext>
            </a:extLst>
          </p:cNvPr>
          <p:cNvSpPr>
            <a:spLocks xmlns:a="http://schemas.openxmlformats.org/drawingml/2006/main" noGrp="1"/>
          </p:cNvSpPr>
          <p:nvPr/>
        </p:nvSpPr>
        <p:spPr>
          <a:xfrm xmlns:a="http://schemas.openxmlformats.org/drawingml/2006/main">
            <a:off x="6629400" y="2562225"/>
            <a:ext cx="481012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Speaker labels when people talk over each other</a:t>
            </a:r>
          </a:p>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Document relevance against five sample files</a:t>
            </a:r>
          </a:p>
          <a:p xmlns:a="http://schemas.openxmlformats.org/drawingml/2006/main">
            <a:pPr marL="241300" indent="-139700">
              <a:spcAft>
                <a:spcPts val="1400"/>
              </a:spcAft>
              <a:buChar char="•"/>
              <a:defRPr sz="1875" b="0">
                <a:solidFill>
                  <a:srgbClr val="20374A"/>
                </a:solidFill>
                <a:latin typeface="DejaVu Sans"/>
                <a:ea typeface="DejaVu Sans"/>
                <a:cs typeface="DejaVu Sans"/>
              </a:defRPr>
            </a:pPr>
            <a:r>
              <a:t>Milestone verification of latency and screen-share masking</a:t>
            </a:r>
          </a:p>
        </p:txBody>
      </p:sp>
      <p:sp>
        <p:nvSpPr>
          <p:cNvPr id="8" name="">
            <a:extLst xmlns:a="http://schemas.openxmlformats.org/drawingml/2006/main">
              <a:ext uri="{FF2B5EF4-FFF2-40B4-BE49-F238E27FC236}">
                <a16:creationId xmlns:a16="http://schemas.microsoft.com/office/drawing/2014/main" id="{7C038A74-AB15-4E01-8D92-9224145A2394}"/>
              </a:ext>
            </a:extLst>
          </p:cNvPr>
          <p:cNvSpPr>
            <a:spLocks xmlns:a="http://schemas.openxmlformats.org/drawingml/2006/main" noGrp="1"/>
          </p:cNvSpPr>
          <p:nvPr/>
        </p:nvSpPr>
        <p:spPr>
          <a:xfrm xmlns:a="http://schemas.openxmlformats.org/drawingml/2006/main">
            <a:off x="590550" y="586740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B40"/>
                </a:solidFill>
                <a:latin typeface="DejaVu Sans"/>
                <a:ea typeface="DejaVu Sans"/>
                <a:cs typeface="DejaVu Sans"/>
              </a:defRPr>
            </a:pPr>
            <a:r>
              <a:rPr sz="1800" b="1">
                <a:solidFill>
                  <a:srgbClr val="142B40"/>
                </a:solidFill>
                <a:latin typeface="DejaVu Sans"/>
                <a:ea typeface="DejaVu Sans"/>
                <a:cs typeface="DejaVu Sans"/>
              </a:rPr>
              <a:t>Next development: live insights, participation coaching and cross-meeting comparison.</a:t>
            </a:r>
          </a:p>
        </p:txBody>
      </p:sp>
    </p:spTree>
    <p:extLst>
      <p:ext uri="{BB962C8B-B14F-4D97-AF65-F5344CB8AC3E}">
        <p14:creationId xmlns:p14="http://schemas.microsoft.com/office/powerpoint/2010/main" val="1565366075"/>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6554D0-A270-46DF-A0D8-E7473AB10A52}"/>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Twelve-week delivery plan</a:t>
            </a:r>
          </a:p>
        </p:txBody>
      </p:sp>
      <p:sp>
        <p:nvSpPr>
          <p:cNvPr id="2" name="">
            <a:extLst xmlns:a="http://schemas.openxmlformats.org/drawingml/2006/main">
              <a:ext uri="{FF2B5EF4-FFF2-40B4-BE49-F238E27FC236}">
                <a16:creationId xmlns:a16="http://schemas.microsoft.com/office/drawing/2014/main" id="{ED1294FC-EC48-4950-A2B9-2DA84D75C9A3}"/>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Status shown as reported at the end of Week 4.</a:t>
            </a:r>
          </a:p>
        </p:txBody>
      </p:sp>
      <p:sp>
        <p:nvSpPr>
          <p:cNvPr id="3" name="">
            <a:extLst xmlns:a="http://schemas.openxmlformats.org/drawingml/2006/main">
              <a:ext uri="{FF2B5EF4-FFF2-40B4-BE49-F238E27FC236}">
                <a16:creationId xmlns:a16="http://schemas.microsoft.com/office/drawing/2014/main" id="{32124A7A-6598-4327-970F-742B9A869493}"/>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08</a:t>
            </a:r>
          </a:p>
        </p:txBody>
      </p:sp>
      <p:graphicFrame>
        <p:nvGraphicFramePr>
          <p:cNvPr id="8" name=""/>
          <p:cNvGraphicFramePr/>
          <p:nvPr/>
        </p:nvGraphicFramePr>
        <p:xfrm>
          <a:off xmlns:a="http://schemas.openxmlformats.org/drawingml/2006/main" x="571500" y="1733550"/>
          <a:ext xmlns:a="http://schemas.openxmlformats.org/drawingml/2006/main" cx="11049000" cy="4286250"/>
        </p:xfrm>
        <a:graphic xmlns:a="http://schemas.openxmlformats.org/drawingml/2006/main">
          <a:graphicData uri="http://schemas.openxmlformats.org/drawingml/2006/table">
            <a:tbl>
              <a:tblPr/>
              <a:tblGrid>
                <a:gridCol w="1524000"/>
                <a:gridCol w="6981825"/>
                <a:gridCol w="2543175"/>
              </a:tblGrid>
              <a:tr h="476250">
                <a:tc>
                  <a:txBody>
                    <a:bodyPr/>
                    <a:lstStyle/>
                    <a:p>
                      <a:r>
                        <a:rPr sz="1650" b="1">
                          <a:solidFill>
                            <a:srgbClr val="FFFFFF"/>
                          </a:solidFill>
                          <a:latin typeface="DejaVu Sans"/>
                          <a:ea typeface="DejaVu Sans"/>
                          <a:cs typeface="DejaVu Sans"/>
                        </a:rPr>
                        <a:t>Weeks</a:t>
                      </a:r>
                    </a:p>
                  </a:txBody>
                  <a:tcPr marL="133350" marR="133350" marT="28575" marB="28575" anchor="ctr">
                    <a:solidFill>
                      <a:srgbClr val="142B40"/>
                    </a:solidFill>
                  </a:tcPr>
                </a:tc>
                <a:tc>
                  <a:txBody>
                    <a:bodyPr/>
                    <a:lstStyle/>
                    <a:p>
                      <a:r>
                        <a:rPr sz="1650" b="1">
                          <a:solidFill>
                            <a:srgbClr val="FFFFFF"/>
                          </a:solidFill>
                          <a:latin typeface="DejaVu Sans"/>
                          <a:ea typeface="DejaVu Sans"/>
                          <a:cs typeface="DejaVu Sans"/>
                        </a:rPr>
                        <a:t>Main work</a:t>
                      </a:r>
                    </a:p>
                  </a:txBody>
                  <a:tcPr marL="133350" marR="133350" marT="28575" marB="28575" anchor="ctr">
                    <a:solidFill>
                      <a:srgbClr val="142B40"/>
                    </a:solidFill>
                  </a:tcPr>
                </a:tc>
                <a:tc>
                  <a:txBody>
                    <a:bodyPr/>
                    <a:lstStyle/>
                    <a:p>
                      <a:r>
                        <a:rPr sz="1650" b="1">
                          <a:solidFill>
                            <a:srgbClr val="FFFFFF"/>
                          </a:solidFill>
                          <a:latin typeface="DejaVu Sans"/>
                          <a:ea typeface="DejaVu Sans"/>
                          <a:cs typeface="DejaVu Sans"/>
                        </a:rPr>
                        <a:t>Status</a:t>
                      </a:r>
                    </a:p>
                  </a:txBody>
                  <a:tcPr marL="133350" marR="133350" marT="28575" marB="28575" anchor="ctr">
                    <a:solidFill>
                      <a:srgbClr val="142B40"/>
                    </a:solidFill>
                  </a:tcPr>
                </a:tc>
              </a:tr>
              <a:tr h="476250">
                <a:tc>
                  <a:txBody>
                    <a:bodyPr/>
                    <a:lstStyle/>
                    <a:p>
                      <a:r>
                        <a:rPr sz="1725" b="1">
                          <a:solidFill>
                            <a:srgbClr val="20374A"/>
                          </a:solidFill>
                          <a:latin typeface="DejaVu Sans"/>
                          <a:ea typeface="DejaVu Sans"/>
                          <a:cs typeface="DejaVu Sans"/>
                        </a:rPr>
                        <a:t>1–2</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Requirements and review of existing tools</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Complete</a:t>
                      </a:r>
                    </a:p>
                  </a:txBody>
                  <a:tcPr marL="133350" marR="133350" marT="28575" marB="28575" anchor="ctr">
                    <a:solidFill>
                      <a:srgbClr val="F7F9FA"/>
                    </a:solidFill>
                  </a:tcPr>
                </a:tc>
              </a:tr>
              <a:tr h="476250">
                <a:tc>
                  <a:txBody>
                    <a:bodyPr/>
                    <a:lstStyle/>
                    <a:p>
                      <a:r>
                        <a:rPr sz="1725" b="1">
                          <a:solidFill>
                            <a:srgbClr val="20374A"/>
                          </a:solidFill>
                          <a:latin typeface="DejaVu Sans"/>
                          <a:ea typeface="DejaVu Sans"/>
                          <a:cs typeface="DejaVu Sans"/>
                        </a:rPr>
                        <a:t>2–3</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Architecture and interface design</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Complete</a:t>
                      </a:r>
                    </a:p>
                  </a:txBody>
                  <a:tcPr marL="133350" marR="133350" marT="28575" marB="28575" anchor="ctr">
                    <a:solidFill>
                      <a:srgbClr val="FFFFFF"/>
                    </a:solidFill>
                  </a:tcPr>
                </a:tc>
              </a:tr>
              <a:tr h="476250">
                <a:tc>
                  <a:txBody>
                    <a:bodyPr/>
                    <a:lstStyle/>
                    <a:p>
                      <a:r>
                        <a:rPr sz="1725" b="1">
                          <a:solidFill>
                            <a:srgbClr val="20374A"/>
                          </a:solidFill>
                          <a:latin typeface="DejaVu Sans"/>
                          <a:ea typeface="DejaVu Sans"/>
                          <a:cs typeface="DejaVu Sans"/>
                        </a:rPr>
                        <a:t>3–5</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Audio, transcription and overlay</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In progress</a:t>
                      </a:r>
                    </a:p>
                  </a:txBody>
                  <a:tcPr marL="133350" marR="133350" marT="28575" marB="28575" anchor="ctr">
                    <a:solidFill>
                      <a:srgbClr val="F7F9FA"/>
                    </a:solidFill>
                  </a:tcPr>
                </a:tc>
              </a:tr>
              <a:tr h="476250">
                <a:tc>
                  <a:txBody>
                    <a:bodyPr/>
                    <a:lstStyle/>
                    <a:p>
                      <a:r>
                        <a:rPr sz="1725" b="1">
                          <a:solidFill>
                            <a:srgbClr val="20374A"/>
                          </a:solidFill>
                          <a:latin typeface="DejaVu Sans"/>
                          <a:ea typeface="DejaVu Sans"/>
                          <a:cs typeface="DejaVu Sans"/>
                        </a:rPr>
                        <a:t>5–6</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Document upload and context grounding</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In progress</a:t>
                      </a:r>
                    </a:p>
                  </a:txBody>
                  <a:tcPr marL="133350" marR="133350" marT="28575" marB="28575" anchor="ctr">
                    <a:solidFill>
                      <a:srgbClr val="FFFFFF"/>
                    </a:solidFill>
                  </a:tcPr>
                </a:tc>
              </a:tr>
              <a:tr h="476250">
                <a:tc>
                  <a:txBody>
                    <a:bodyPr/>
                    <a:lstStyle/>
                    <a:p>
                      <a:r>
                        <a:rPr sz="1725" b="1">
                          <a:solidFill>
                            <a:srgbClr val="20374A"/>
                          </a:solidFill>
                          <a:latin typeface="DejaVu Sans"/>
                          <a:ea typeface="DejaVu Sans"/>
                          <a:cs typeface="DejaVu Sans"/>
                        </a:rPr>
                        <a:t>6–7</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Live insights and question alerts</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Planned</a:t>
                      </a:r>
                    </a:p>
                  </a:txBody>
                  <a:tcPr marL="133350" marR="133350" marT="28575" marB="28575" anchor="ctr">
                    <a:solidFill>
                      <a:srgbClr val="F7F9FA"/>
                    </a:solidFill>
                  </a:tcPr>
                </a:tc>
              </a:tr>
              <a:tr h="476250">
                <a:tc>
                  <a:txBody>
                    <a:bodyPr/>
                    <a:lstStyle/>
                    <a:p>
                      <a:r>
                        <a:rPr sz="1725" b="1">
                          <a:solidFill>
                            <a:srgbClr val="20374A"/>
                          </a:solidFill>
                          <a:latin typeface="DejaVu Sans"/>
                          <a:ea typeface="DejaVu Sans"/>
                          <a:cs typeface="DejaVu Sans"/>
                        </a:rPr>
                        <a:t>8–9</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Coaching, Graphify and meeting comparison</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Planned</a:t>
                      </a:r>
                    </a:p>
                  </a:txBody>
                  <a:tcPr marL="133350" marR="133350" marT="28575" marB="28575" anchor="ctr">
                    <a:solidFill>
                      <a:srgbClr val="FFFFFF"/>
                    </a:solidFill>
                  </a:tcPr>
                </a:tc>
              </a:tr>
              <a:tr h="476250">
                <a:tc>
                  <a:txBody>
                    <a:bodyPr/>
                    <a:lstStyle/>
                    <a:p>
                      <a:r>
                        <a:rPr sz="1725" b="1">
                          <a:solidFill>
                            <a:srgbClr val="20374A"/>
                          </a:solidFill>
                          <a:latin typeface="DejaVu Sans"/>
                          <a:ea typeface="DejaVu Sans"/>
                          <a:cs typeface="DejaVu Sans"/>
                        </a:rPr>
                        <a:t>10–11</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Annotated meetings and evaluation</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Planned</a:t>
                      </a:r>
                    </a:p>
                  </a:txBody>
                  <a:tcPr marL="133350" marR="133350" marT="28575" marB="28575" anchor="ctr">
                    <a:solidFill>
                      <a:srgbClr val="F7F9FA"/>
                    </a:solidFill>
                  </a:tcPr>
                </a:tc>
              </a:tr>
              <a:tr h="476250">
                <a:tc>
                  <a:txBody>
                    <a:bodyPr/>
                    <a:lstStyle/>
                    <a:p>
                      <a:r>
                        <a:rPr sz="1725" b="1">
                          <a:solidFill>
                            <a:srgbClr val="20374A"/>
                          </a:solidFill>
                          <a:latin typeface="DejaVu Sans"/>
                          <a:ea typeface="DejaVu Sans"/>
                          <a:cs typeface="DejaVu Sans"/>
                        </a:rPr>
                        <a:t>12</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Final report and demonstration</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Planned</a:t>
                      </a:r>
                    </a:p>
                  </a:txBody>
                  <a:tcPr marL="133350" marR="133350" marT="28575" marB="28575" anchor="ctr">
                    <a:solidFill>
                      <a:srgbClr val="FFFFFF"/>
                    </a:solidFill>
                  </a:tcPr>
                </a:tc>
              </a:tr>
            </a:tbl>
          </a:graphicData>
        </a:graphic>
      </p:graphicFrame>
    </p:spTree>
    <p:extLst>
      <p:ext uri="{BB962C8B-B14F-4D97-AF65-F5344CB8AC3E}">
        <p14:creationId xmlns:p14="http://schemas.microsoft.com/office/powerpoint/2010/main" val="295586800"/>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4056CA-120A-42DF-B9D5-9C6829294C35}"/>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Testing and success measures</a:t>
            </a:r>
          </a:p>
        </p:txBody>
      </p:sp>
      <p:sp>
        <p:nvSpPr>
          <p:cNvPr id="2" name="">
            <a:extLst xmlns:a="http://schemas.openxmlformats.org/drawingml/2006/main">
              <a:ext uri="{FF2B5EF4-FFF2-40B4-BE49-F238E27FC236}">
                <a16:creationId xmlns:a16="http://schemas.microsoft.com/office/drawing/2014/main" id="{44785B0D-87C2-4E74-9523-CAAC322D5119}"/>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Consenting participants will provide meetings for manual annotation and comparison.</a:t>
            </a:r>
          </a:p>
        </p:txBody>
      </p:sp>
      <p:sp>
        <p:nvSpPr>
          <p:cNvPr id="3" name="">
            <a:extLst xmlns:a="http://schemas.openxmlformats.org/drawingml/2006/main">
              <a:ext uri="{FF2B5EF4-FFF2-40B4-BE49-F238E27FC236}">
                <a16:creationId xmlns:a16="http://schemas.microsoft.com/office/drawing/2014/main" id="{15C87C17-788F-4E2B-848A-56A4C027B4D8}"/>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09</a:t>
            </a:r>
          </a:p>
        </p:txBody>
      </p:sp>
      <p:graphicFrame>
        <p:nvGraphicFramePr>
          <p:cNvPr id="8" name=""/>
          <p:cNvGraphicFramePr/>
          <p:nvPr/>
        </p:nvGraphicFramePr>
        <p:xfrm>
          <a:off xmlns:a="http://schemas.openxmlformats.org/drawingml/2006/main" x="571500" y="1724025"/>
          <a:ext xmlns:a="http://schemas.openxmlformats.org/drawingml/2006/main" cx="11049000" cy="4229100"/>
        </p:xfrm>
        <a:graphic xmlns:a="http://schemas.openxmlformats.org/drawingml/2006/main">
          <a:graphicData uri="http://schemas.openxmlformats.org/drawingml/2006/table">
            <a:tbl>
              <a:tblPr/>
              <a:tblGrid>
                <a:gridCol w="2952750"/>
                <a:gridCol w="3714750"/>
                <a:gridCol w="4381500"/>
              </a:tblGrid>
              <a:tr h="604157">
                <a:tc>
                  <a:txBody>
                    <a:bodyPr/>
                    <a:lstStyle/>
                    <a:p>
                      <a:r>
                        <a:rPr sz="1650" b="1">
                          <a:solidFill>
                            <a:srgbClr val="FFFFFF"/>
                          </a:solidFill>
                          <a:latin typeface="DejaVu Sans"/>
                          <a:ea typeface="DejaVu Sans"/>
                          <a:cs typeface="DejaVu Sans"/>
                        </a:rPr>
                        <a:t>Measure</a:t>
                      </a:r>
                    </a:p>
                  </a:txBody>
                  <a:tcPr marL="133350" marR="133350" marT="28575" marB="28575" anchor="ctr">
                    <a:solidFill>
                      <a:srgbClr val="142B40"/>
                    </a:solidFill>
                  </a:tcPr>
                </a:tc>
                <a:tc>
                  <a:txBody>
                    <a:bodyPr/>
                    <a:lstStyle/>
                    <a:p>
                      <a:r>
                        <a:rPr sz="1650" b="1">
                          <a:solidFill>
                            <a:srgbClr val="FFFFFF"/>
                          </a:solidFill>
                          <a:latin typeface="DejaVu Sans"/>
                          <a:ea typeface="DejaVu Sans"/>
                          <a:cs typeface="DejaVu Sans"/>
                        </a:rPr>
                        <a:t>Acceptance target</a:t>
                      </a:r>
                    </a:p>
                  </a:txBody>
                  <a:tcPr marL="133350" marR="133350" marT="28575" marB="28575" anchor="ctr">
                    <a:solidFill>
                      <a:srgbClr val="142B40"/>
                    </a:solidFill>
                  </a:tcPr>
                </a:tc>
                <a:tc>
                  <a:txBody>
                    <a:bodyPr/>
                    <a:lstStyle/>
                    <a:p>
                      <a:r>
                        <a:rPr sz="1650" b="1">
                          <a:solidFill>
                            <a:srgbClr val="FFFFFF"/>
                          </a:solidFill>
                          <a:latin typeface="DejaVu Sans"/>
                          <a:ea typeface="DejaVu Sans"/>
                          <a:cs typeface="DejaVu Sans"/>
                        </a:rPr>
                        <a:t>Evidence</a:t>
                      </a:r>
                    </a:p>
                  </a:txBody>
                  <a:tcPr marL="133350" marR="133350" marT="28575" marB="28575" anchor="ctr">
                    <a:solidFill>
                      <a:srgbClr val="142B40"/>
                    </a:solidFill>
                  </a:tcPr>
                </a:tc>
              </a:tr>
              <a:tr h="604157">
                <a:tc>
                  <a:txBody>
                    <a:bodyPr/>
                    <a:lstStyle/>
                    <a:p>
                      <a:r>
                        <a:rPr sz="1725" b="1">
                          <a:solidFill>
                            <a:srgbClr val="20374A"/>
                          </a:solidFill>
                          <a:latin typeface="DejaVu Sans"/>
                          <a:ea typeface="DejaVu Sans"/>
                          <a:cs typeface="DejaVu Sans"/>
                        </a:rPr>
                        <a:t>Transcription latency</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Below 400 ms</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Latency log from a 10-minute test call</a:t>
                      </a:r>
                    </a:p>
                  </a:txBody>
                  <a:tcPr marL="133350" marR="133350" marT="28575" marB="28575" anchor="ctr">
                    <a:solidFill>
                      <a:srgbClr val="F7F9FA"/>
                    </a:solidFill>
                  </a:tcPr>
                </a:tc>
              </a:tr>
              <a:tr h="604157">
                <a:tc>
                  <a:txBody>
                    <a:bodyPr/>
                    <a:lstStyle/>
                    <a:p>
                      <a:r>
                        <a:rPr sz="1725" b="1">
                          <a:solidFill>
                            <a:srgbClr val="20374A"/>
                          </a:solidFill>
                          <a:latin typeface="DejaVu Sans"/>
                          <a:ea typeface="DejaVu Sans"/>
                          <a:cs typeface="DejaVu Sans"/>
                        </a:rPr>
                        <a:t>Live insight delay</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Within 15 seconds</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Transcript and insight timestamps</a:t>
                      </a:r>
                    </a:p>
                  </a:txBody>
                  <a:tcPr marL="133350" marR="133350" marT="28575" marB="28575" anchor="ctr">
                    <a:solidFill>
                      <a:srgbClr val="FFFFFF"/>
                    </a:solidFill>
                  </a:tcPr>
                </a:tc>
              </a:tr>
              <a:tr h="604157">
                <a:tc>
                  <a:txBody>
                    <a:bodyPr/>
                    <a:lstStyle/>
                    <a:p>
                      <a:r>
                        <a:rPr sz="1725" b="1">
                          <a:solidFill>
                            <a:srgbClr val="20374A"/>
                          </a:solidFill>
                          <a:latin typeface="DejaVu Sans"/>
                          <a:ea typeface="DejaVu Sans"/>
                          <a:cs typeface="DejaVu Sans"/>
                        </a:rPr>
                        <a:t>Unanswered questions</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At least 75% correctly flagged</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Manual question annotations</a:t>
                      </a:r>
                    </a:p>
                  </a:txBody>
                  <a:tcPr marL="133350" marR="133350" marT="28575" marB="28575" anchor="ctr">
                    <a:solidFill>
                      <a:srgbClr val="F7F9FA"/>
                    </a:solidFill>
                  </a:tcPr>
                </a:tc>
              </a:tr>
              <a:tr h="604157">
                <a:tc>
                  <a:txBody>
                    <a:bodyPr/>
                    <a:lstStyle/>
                    <a:p>
                      <a:r>
                        <a:rPr sz="1725" b="1">
                          <a:solidFill>
                            <a:srgbClr val="20374A"/>
                          </a:solidFill>
                          <a:latin typeface="DejaVu Sans"/>
                          <a:ea typeface="DejaVu Sans"/>
                          <a:cs typeface="DejaVu Sans"/>
                        </a:rPr>
                        <a:t>Speaking time</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Within 10% of manual measurement</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Stopwatch comparison per speaker</a:t>
                      </a:r>
                    </a:p>
                  </a:txBody>
                  <a:tcPr marL="133350" marR="133350" marT="28575" marB="28575" anchor="ctr">
                    <a:solidFill>
                      <a:srgbClr val="FFFFFF"/>
                    </a:solidFill>
                  </a:tcPr>
                </a:tc>
              </a:tr>
              <a:tr h="604157">
                <a:tc>
                  <a:txBody>
                    <a:bodyPr/>
                    <a:lstStyle/>
                    <a:p>
                      <a:r>
                        <a:rPr sz="1725" b="1">
                          <a:solidFill>
                            <a:srgbClr val="20374A"/>
                          </a:solidFill>
                          <a:latin typeface="DejaVu Sans"/>
                          <a:ea typeface="DejaVu Sans"/>
                          <a:cs typeface="DejaVu Sans"/>
                        </a:rPr>
                        <a:t>Stability</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30-minute meeting without a crash</a:t>
                      </a:r>
                    </a:p>
                  </a:txBody>
                  <a:tcPr marL="133350" marR="133350" marT="28575" marB="28575" anchor="ctr">
                    <a:solidFill>
                      <a:srgbClr val="F7F9FA"/>
                    </a:solidFill>
                  </a:tcPr>
                </a:tc>
                <a:tc>
                  <a:txBody>
                    <a:bodyPr/>
                    <a:lstStyle/>
                    <a:p>
                      <a:r>
                        <a:rPr sz="1725" b="0">
                          <a:solidFill>
                            <a:srgbClr val="20374A"/>
                          </a:solidFill>
                          <a:latin typeface="DejaVu Sans"/>
                          <a:ea typeface="DejaVu Sans"/>
                          <a:cs typeface="DejaVu Sans"/>
                        </a:rPr>
                        <a:t>macOS test run and logs</a:t>
                      </a:r>
                    </a:p>
                  </a:txBody>
                  <a:tcPr marL="133350" marR="133350" marT="28575" marB="28575" anchor="ctr">
                    <a:solidFill>
                      <a:srgbClr val="F7F9FA"/>
                    </a:solidFill>
                  </a:tcPr>
                </a:tc>
              </a:tr>
              <a:tr h="604157">
                <a:tc>
                  <a:txBody>
                    <a:bodyPr/>
                    <a:lstStyle/>
                    <a:p>
                      <a:r>
                        <a:rPr sz="1725" b="1">
                          <a:solidFill>
                            <a:srgbClr val="20374A"/>
                          </a:solidFill>
                          <a:latin typeface="DejaVu Sans"/>
                          <a:ea typeface="DejaVu Sans"/>
                          <a:cs typeface="DejaVu Sans"/>
                        </a:rPr>
                        <a:t>Overlay masking</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Hidden in each platform test</a:t>
                      </a:r>
                    </a:p>
                  </a:txBody>
                  <a:tcPr marL="133350" marR="133350" marT="28575" marB="28575" anchor="ctr">
                    <a:solidFill>
                      <a:srgbClr val="FFFFFF"/>
                    </a:solidFill>
                  </a:tcPr>
                </a:tc>
                <a:tc>
                  <a:txBody>
                    <a:bodyPr/>
                    <a:lstStyle/>
                    <a:p>
                      <a:r>
                        <a:rPr sz="1725" b="0">
                          <a:solidFill>
                            <a:srgbClr val="20374A"/>
                          </a:solidFill>
                          <a:latin typeface="DejaVu Sans"/>
                          <a:ea typeface="DejaVu Sans"/>
                          <a:cs typeface="DejaVu Sans"/>
                        </a:rPr>
                        <a:t>Zoom, Teams and Google Meet checks</a:t>
                      </a:r>
                    </a:p>
                  </a:txBody>
                  <a:tcPr marL="133350" marR="133350" marT="28575" marB="28575" anchor="ctr">
                    <a:solidFill>
                      <a:srgbClr val="FFFFFF"/>
                    </a:solidFill>
                  </a:tcPr>
                </a:tc>
              </a:tr>
            </a:tbl>
          </a:graphicData>
        </a:graphic>
      </p:graphicFrame>
    </p:spTree>
    <p:extLst>
      <p:ext uri="{BB962C8B-B14F-4D97-AF65-F5344CB8AC3E}">
        <p14:creationId xmlns:p14="http://schemas.microsoft.com/office/powerpoint/2010/main" val="1929775486"/>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F06BAB-E09C-4B4F-8721-FCA71D11A176}"/>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Main risks and responses</a:t>
            </a:r>
          </a:p>
        </p:txBody>
      </p:sp>
      <p:sp>
        <p:nvSpPr>
          <p:cNvPr id="2" name="">
            <a:extLst xmlns:a="http://schemas.openxmlformats.org/drawingml/2006/main">
              <a:ext uri="{FF2B5EF4-FFF2-40B4-BE49-F238E27FC236}">
                <a16:creationId xmlns:a16="http://schemas.microsoft.com/office/drawing/2014/main" id="{BF6DE723-EDEB-4A2A-B773-766302350BF7}"/>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Speaker identification is the highest active risk in the current implementation.</a:t>
            </a:r>
          </a:p>
        </p:txBody>
      </p:sp>
      <p:sp>
        <p:nvSpPr>
          <p:cNvPr id="3" name="">
            <a:extLst xmlns:a="http://schemas.openxmlformats.org/drawingml/2006/main">
              <a:ext uri="{FF2B5EF4-FFF2-40B4-BE49-F238E27FC236}">
                <a16:creationId xmlns:a16="http://schemas.microsoft.com/office/drawing/2014/main" id="{EE7C227D-A7F2-4375-9733-E6CC548BF01C}"/>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10</a:t>
            </a:r>
          </a:p>
        </p:txBody>
      </p:sp>
      <p:graphicFrame>
        <p:nvGraphicFramePr>
          <p:cNvPr id="9" name=""/>
          <p:cNvGraphicFramePr/>
          <p:nvPr/>
        </p:nvGraphicFramePr>
        <p:xfrm>
          <a:off xmlns:a="http://schemas.openxmlformats.org/drawingml/2006/main" x="571500" y="1809750"/>
          <a:ext xmlns:a="http://schemas.openxmlformats.org/drawingml/2006/main" cx="11049000" cy="3943350"/>
        </p:xfrm>
        <a:graphic xmlns:a="http://schemas.openxmlformats.org/drawingml/2006/main">
          <a:graphicData uri="http://schemas.openxmlformats.org/drawingml/2006/table">
            <a:tbl>
              <a:tblPr/>
              <a:tblGrid>
                <a:gridCol w="4048125"/>
                <a:gridCol w="7000875"/>
              </a:tblGrid>
              <a:tr h="788670">
                <a:tc>
                  <a:txBody>
                    <a:bodyPr/>
                    <a:lstStyle/>
                    <a:p>
                      <a:r>
                        <a:rPr sz="1800" b="1">
                          <a:solidFill>
                            <a:srgbClr val="FFFFFF"/>
                          </a:solidFill>
                          <a:latin typeface="DejaVu Sans"/>
                          <a:ea typeface="DejaVu Sans"/>
                          <a:cs typeface="DejaVu Sans"/>
                        </a:rPr>
                        <a:t>Risk</a:t>
                      </a:r>
                    </a:p>
                  </a:txBody>
                  <a:tcPr marL="133350" marR="133350" marT="28575" marB="28575" anchor="ctr">
                    <a:solidFill>
                      <a:srgbClr val="142B40"/>
                    </a:solidFill>
                  </a:tcPr>
                </a:tc>
                <a:tc>
                  <a:txBody>
                    <a:bodyPr/>
                    <a:lstStyle/>
                    <a:p>
                      <a:r>
                        <a:rPr sz="1800" b="1">
                          <a:solidFill>
                            <a:srgbClr val="FFFFFF"/>
                          </a:solidFill>
                          <a:latin typeface="DejaVu Sans"/>
                          <a:ea typeface="DejaVu Sans"/>
                          <a:cs typeface="DejaVu Sans"/>
                        </a:rPr>
                        <a:t>Planned response</a:t>
                      </a:r>
                    </a:p>
                  </a:txBody>
                  <a:tcPr marL="133350" marR="133350" marT="28575" marB="28575" anchor="ctr">
                    <a:solidFill>
                      <a:srgbClr val="142B40"/>
                    </a:solidFill>
                  </a:tcPr>
                </a:tc>
              </a:tr>
              <a:tr h="788670">
                <a:tc>
                  <a:txBody>
                    <a:bodyPr/>
                    <a:lstStyle/>
                    <a:p>
                      <a:r>
                        <a:rPr sz="1875" b="1">
                          <a:solidFill>
                            <a:srgbClr val="20374A"/>
                          </a:solidFill>
                          <a:latin typeface="DejaVu Sans"/>
                          <a:ea typeface="DejaVu Sans"/>
                          <a:cs typeface="DejaVu Sans"/>
                        </a:rPr>
                        <a:t>Overlapping speech causes incorrect speaker labels</a:t>
                      </a:r>
                    </a:p>
                  </a:txBody>
                  <a:tcPr marL="133350" marR="133350" marT="28575" marB="28575" anchor="ctr">
                    <a:solidFill>
                      <a:srgbClr val="F7F9FA"/>
                    </a:solidFill>
                  </a:tcPr>
                </a:tc>
                <a:tc>
                  <a:txBody>
                    <a:bodyPr/>
                    <a:lstStyle/>
                    <a:p>
                      <a:r>
                        <a:rPr sz="1875" b="0">
                          <a:solidFill>
                            <a:srgbClr val="20374A"/>
                          </a:solidFill>
                          <a:latin typeface="DejaVu Sans"/>
                          <a:ea typeface="DejaVu Sans"/>
                          <a:cs typeface="DejaVu Sans"/>
                        </a:rPr>
                        <a:t>Tune diarisation with real meeting audio and use a fallback label when confidence is low.</a:t>
                      </a:r>
                    </a:p>
                  </a:txBody>
                  <a:tcPr marL="133350" marR="133350" marT="28575" marB="28575" anchor="ctr">
                    <a:solidFill>
                      <a:srgbClr val="F7F9FA"/>
                    </a:solidFill>
                  </a:tcPr>
                </a:tc>
              </a:tr>
              <a:tr h="788670">
                <a:tc>
                  <a:txBody>
                    <a:bodyPr/>
                    <a:lstStyle/>
                    <a:p>
                      <a:r>
                        <a:rPr sz="1875" b="1">
                          <a:solidFill>
                            <a:srgbClr val="20374A"/>
                          </a:solidFill>
                          <a:latin typeface="DejaVu Sans"/>
                          <a:ea typeface="DejaVu Sans"/>
                          <a:cs typeface="DejaVu Sans"/>
                        </a:rPr>
                        <a:t>Live insights arrive too late</a:t>
                      </a:r>
                    </a:p>
                  </a:txBody>
                  <a:tcPr marL="133350" marR="133350" marT="28575" marB="28575" anchor="ctr">
                    <a:solidFill>
                      <a:srgbClr val="FFFFFF"/>
                    </a:solidFill>
                  </a:tcPr>
                </a:tc>
                <a:tc>
                  <a:txBody>
                    <a:bodyPr/>
                    <a:lstStyle/>
                    <a:p>
                      <a:r>
                        <a:rPr sz="1875" b="0">
                          <a:solidFill>
                            <a:srgbClr val="20374A"/>
                          </a:solidFill>
                          <a:latin typeface="DejaVu Sans"/>
                          <a:ea typeface="DejaVu Sans"/>
                          <a:cs typeface="DejaVu Sans"/>
                        </a:rPr>
                        <a:t>Use short prompts, a 12–15 second analysis interval and end-to-end latency logs.</a:t>
                      </a:r>
                    </a:p>
                  </a:txBody>
                  <a:tcPr marL="133350" marR="133350" marT="28575" marB="28575" anchor="ctr">
                    <a:solidFill>
                      <a:srgbClr val="FFFFFF"/>
                    </a:solidFill>
                  </a:tcPr>
                </a:tc>
              </a:tr>
              <a:tr h="788670">
                <a:tc>
                  <a:txBody>
                    <a:bodyPr/>
                    <a:lstStyle/>
                    <a:p>
                      <a:r>
                        <a:rPr sz="1875" b="1">
                          <a:solidFill>
                            <a:srgbClr val="20374A"/>
                          </a:solidFill>
                          <a:latin typeface="DejaVu Sans"/>
                          <a:ea typeface="DejaVu Sans"/>
                          <a:cs typeface="DejaVu Sans"/>
                        </a:rPr>
                        <a:t>AI output is malformed or inaccurate</a:t>
                      </a:r>
                    </a:p>
                  </a:txBody>
                  <a:tcPr marL="133350" marR="133350" marT="28575" marB="28575" anchor="ctr">
                    <a:solidFill>
                      <a:srgbClr val="F7F9FA"/>
                    </a:solidFill>
                  </a:tcPr>
                </a:tc>
                <a:tc>
                  <a:txBody>
                    <a:bodyPr/>
                    <a:lstStyle/>
                    <a:p>
                      <a:r>
                        <a:rPr sz="1875" b="0">
                          <a:solidFill>
                            <a:srgbClr val="20374A"/>
                          </a:solidFill>
                          <a:latin typeface="DejaVu Sans"/>
                          <a:ea typeface="DejaVu Sans"/>
                          <a:cs typeface="DejaVu Sans"/>
                        </a:rPr>
                        <a:t>Use structured JSON and fallback parsing. Present suggestions for user review.</a:t>
                      </a:r>
                    </a:p>
                  </a:txBody>
                  <a:tcPr marL="133350" marR="133350" marT="28575" marB="28575" anchor="ctr">
                    <a:solidFill>
                      <a:srgbClr val="F7F9FA"/>
                    </a:solidFill>
                  </a:tcPr>
                </a:tc>
              </a:tr>
              <a:tr h="788670">
                <a:tc>
                  <a:txBody>
                    <a:bodyPr/>
                    <a:lstStyle/>
                    <a:p>
                      <a:r>
                        <a:rPr sz="1875" b="1">
                          <a:solidFill>
                            <a:srgbClr val="20374A"/>
                          </a:solidFill>
                          <a:latin typeface="DejaVu Sans"/>
                          <a:ea typeface="DejaVu Sans"/>
                          <a:cs typeface="DejaVu Sans"/>
                        </a:rPr>
                        <a:t>Windows support exceeds the available time</a:t>
                      </a:r>
                    </a:p>
                  </a:txBody>
                  <a:tcPr marL="133350" marR="133350" marT="28575" marB="28575" anchor="ctr">
                    <a:solidFill>
                      <a:srgbClr val="FFFFFF"/>
                    </a:solidFill>
                  </a:tcPr>
                </a:tc>
                <a:tc>
                  <a:txBody>
                    <a:bodyPr/>
                    <a:lstStyle/>
                    <a:p>
                      <a:r>
                        <a:rPr sz="1875" b="0">
                          <a:solidFill>
                            <a:srgbClr val="20374A"/>
                          </a:solidFill>
                          <a:latin typeface="DejaVu Sans"/>
                          <a:ea typeface="DejaVu Sans"/>
                          <a:cs typeface="DejaVu Sans"/>
                        </a:rPr>
                        <a:t>Prioritise macOS delivery and defer the Windows port behind a shared interface.</a:t>
                      </a:r>
                    </a:p>
                  </a:txBody>
                  <a:tcPr marL="133350" marR="133350"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BAF97C3-DFF8-4B6C-85B2-8FC77B1B6180}"/>
              </a:ext>
            </a:extLst>
          </p:cNvPr>
          <p:cNvSpPr>
            <a:spLocks xmlns:a="http://schemas.openxmlformats.org/drawingml/2006/main" noGrp="1"/>
          </p:cNvSpPr>
          <p:nvPr/>
        </p:nvSpPr>
        <p:spPr>
          <a:xfrm xmlns:a="http://schemas.openxmlformats.org/drawingml/2006/main">
            <a:off x="590550" y="5972175"/>
            <a:ext cx="10687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979"/>
                </a:solidFill>
                <a:latin typeface="DejaVu Sans"/>
                <a:ea typeface="DejaVu Sans"/>
                <a:cs typeface="DejaVu Sans"/>
              </a:defRPr>
            </a:pPr>
            <a:r>
              <a:rPr sz="1650" b="0">
                <a:solidFill>
                  <a:srgbClr val="566979"/>
                </a:solidFill>
                <a:latin typeface="DejaVu Sans"/>
                <a:ea typeface="DejaVu Sans"/>
                <a:cs typeface="DejaVu Sans"/>
              </a:rPr>
              <a:t>Parsing checks handle output format. Evaluation must also check whether suggestions are correct.</a:t>
            </a:r>
          </a:p>
        </p:txBody>
      </p:sp>
    </p:spTree>
    <p:extLst>
      <p:ext uri="{BB962C8B-B14F-4D97-AF65-F5344CB8AC3E}">
        <p14:creationId xmlns:p14="http://schemas.microsoft.com/office/powerpoint/2010/main" val="1325504090"/>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E46EC2-54DD-4735-A1C9-F1C0135A9410}"/>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Data handling and participant consent</a:t>
            </a:r>
          </a:p>
        </p:txBody>
      </p:sp>
      <p:sp>
        <p:nvSpPr>
          <p:cNvPr id="2" name="">
            <a:extLst xmlns:a="http://schemas.openxmlformats.org/drawingml/2006/main">
              <a:ext uri="{FF2B5EF4-FFF2-40B4-BE49-F238E27FC236}">
                <a16:creationId xmlns:a16="http://schemas.microsoft.com/office/drawing/2014/main" id="{19EA3A8E-03E8-4691-B890-8BAEE93C8C93}"/>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The project combines local capture with named cloud services.</a:t>
            </a:r>
          </a:p>
        </p:txBody>
      </p:sp>
      <p:sp>
        <p:nvSpPr>
          <p:cNvPr id="3" name="">
            <a:extLst xmlns:a="http://schemas.openxmlformats.org/drawingml/2006/main">
              <a:ext uri="{FF2B5EF4-FFF2-40B4-BE49-F238E27FC236}">
                <a16:creationId xmlns:a16="http://schemas.microsoft.com/office/drawing/2014/main" id="{8AADED28-9CB8-4667-A1F1-95019AE9FA74}"/>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679D95A3-4AC4-437B-952B-D71F909041FA}"/>
              </a:ext>
            </a:extLst>
          </p:cNvPr>
          <p:cNvSpPr>
            <a:spLocks xmlns:a="http://schemas.openxmlformats.org/drawingml/2006/main" noGrp="1"/>
          </p:cNvSpPr>
          <p:nvPr/>
        </p:nvSpPr>
        <p:spPr>
          <a:xfrm xmlns:a="http://schemas.openxmlformats.org/drawingml/2006/main">
            <a:off x="590550" y="1943100"/>
            <a:ext cx="10506075"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2175" b="0">
                <a:solidFill>
                  <a:srgbClr val="20374A"/>
                </a:solidFill>
                <a:latin typeface="DejaVu Sans"/>
                <a:ea typeface="DejaVu Sans"/>
                <a:cs typeface="DejaVu Sans"/>
              </a:defRPr>
            </a:pPr>
            <a:r>
              <a:t>Use consenting participants for recorded test meetings.</a:t>
            </a:r>
          </a:p>
          <a:p xmlns:a="http://schemas.openxmlformats.org/drawingml/2006/main">
            <a:pPr marL="241300" indent="-139700">
              <a:spcAft>
                <a:spcPts val="1400"/>
              </a:spcAft>
              <a:buChar char="•"/>
              <a:defRPr sz="2175" b="0">
                <a:solidFill>
                  <a:srgbClr val="20374A"/>
                </a:solidFill>
                <a:latin typeface="DejaVu Sans"/>
                <a:ea typeface="DejaVu Sans"/>
                <a:cs typeface="DejaVu Sans"/>
              </a:defRPr>
            </a:pPr>
            <a:r>
              <a:t>Explain that audio goes to Deepgram and selected transcript or document context goes to Gemini.</a:t>
            </a:r>
          </a:p>
          <a:p xmlns:a="http://schemas.openxmlformats.org/drawingml/2006/main">
            <a:pPr marL="241300" indent="-139700">
              <a:spcAft>
                <a:spcPts val="1400"/>
              </a:spcAft>
              <a:buChar char="•"/>
              <a:defRPr sz="2175" b="0">
                <a:solidFill>
                  <a:srgbClr val="20374A"/>
                </a:solidFill>
                <a:latin typeface="DejaVu Sans"/>
                <a:ea typeface="DejaVu Sans"/>
                <a:cs typeface="DejaVu Sans"/>
              </a:defRPr>
            </a:pPr>
            <a:r>
              <a:t>Keep API keys out of source code and limit shared meeting data to what the task needs.</a:t>
            </a:r>
          </a:p>
          <a:p xmlns:a="http://schemas.openxmlformats.org/drawingml/2006/main">
            <a:pPr marL="241300" indent="-139700">
              <a:spcAft>
                <a:spcPts val="1400"/>
              </a:spcAft>
              <a:buChar char="•"/>
              <a:defRPr sz="2175" b="0">
                <a:solidFill>
                  <a:srgbClr val="20374A"/>
                </a:solidFill>
                <a:latin typeface="DejaVu Sans"/>
                <a:ea typeface="DejaVu Sans"/>
                <a:cs typeface="DejaVu Sans"/>
              </a:defRPr>
            </a:pPr>
            <a:r>
              <a:t>Agree how long test recordings, transcripts and coaching results will be retained.</a:t>
            </a:r>
          </a:p>
        </p:txBody>
      </p:sp>
      <p:sp>
        <p:nvSpPr>
          <p:cNvPr id="5" name="">
            <a:extLst xmlns:a="http://schemas.openxmlformats.org/drawingml/2006/main">
              <a:ext uri="{FF2B5EF4-FFF2-40B4-BE49-F238E27FC236}">
                <a16:creationId xmlns:a16="http://schemas.microsoft.com/office/drawing/2014/main" id="{6434558C-BCDC-4EC1-9BE2-3987BBBDEDD8}"/>
              </a:ext>
            </a:extLst>
          </p:cNvPr>
          <p:cNvSpPr>
            <a:spLocks xmlns:a="http://schemas.openxmlformats.org/drawingml/2006/main" noGrp="1"/>
          </p:cNvSpPr>
          <p:nvPr/>
        </p:nvSpPr>
        <p:spPr>
          <a:xfrm xmlns:a="http://schemas.openxmlformats.org/drawingml/2006/main">
            <a:off x="590550" y="531495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DejaVu Sans"/>
                <a:ea typeface="DejaVu Sans"/>
                <a:cs typeface="DejaVu Sans"/>
              </a:defRPr>
            </a:pPr>
            <a:r>
              <a:rPr sz="2025" b="1">
                <a:solidFill>
                  <a:srgbClr val="007E80"/>
                </a:solidFill>
                <a:latin typeface="DejaVu Sans"/>
                <a:ea typeface="DejaVu Sans"/>
                <a:cs typeface="DejaVu Sans"/>
              </a:rPr>
              <a:t>Proposed improvement before broader testing</a:t>
            </a:r>
          </a:p>
        </p:txBody>
      </p:sp>
      <p:sp>
        <p:nvSpPr>
          <p:cNvPr id="6" name="">
            <a:extLst xmlns:a="http://schemas.openxmlformats.org/drawingml/2006/main">
              <a:ext uri="{FF2B5EF4-FFF2-40B4-BE49-F238E27FC236}">
                <a16:creationId xmlns:a16="http://schemas.microsoft.com/office/drawing/2014/main" id="{01C2ABBA-5B7E-40C4-8588-6E115849108B}"/>
              </a:ext>
            </a:extLst>
          </p:cNvPr>
          <p:cNvSpPr>
            <a:spLocks xmlns:a="http://schemas.openxmlformats.org/drawingml/2006/main" noGrp="1"/>
          </p:cNvSpPr>
          <p:nvPr/>
        </p:nvSpPr>
        <p:spPr>
          <a:xfrm xmlns:a="http://schemas.openxmlformats.org/drawingml/2006/main">
            <a:off x="590550" y="5848350"/>
            <a:ext cx="10706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40"/>
                </a:solidFill>
                <a:latin typeface="DejaVu Sans"/>
                <a:ea typeface="DejaVu Sans"/>
                <a:cs typeface="DejaVu Sans"/>
              </a:defRPr>
            </a:pPr>
            <a:r>
              <a:rPr sz="1950" b="0">
                <a:solidFill>
                  <a:srgbClr val="142B40"/>
                </a:solidFill>
                <a:latin typeface="DejaVu Sans"/>
                <a:ea typeface="DejaVu Sans"/>
                <a:cs typeface="DejaVu Sans"/>
              </a:rPr>
              <a:t>Store API keys in the operating system’s secure credential store.</a:t>
            </a:r>
          </a:p>
        </p:txBody>
      </p:sp>
    </p:spTree>
    <p:extLst>
      <p:ext uri="{BB962C8B-B14F-4D97-AF65-F5344CB8AC3E}">
        <p14:creationId xmlns:p14="http://schemas.microsoft.com/office/powerpoint/2010/main" val="2107508866"/>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82639A-F8D3-42E8-8B45-8B858A8FCB6B}"/>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Resources, responsibilities and budget</a:t>
            </a:r>
          </a:p>
        </p:txBody>
      </p:sp>
      <p:sp>
        <p:nvSpPr>
          <p:cNvPr id="2" name="">
            <a:extLst xmlns:a="http://schemas.openxmlformats.org/drawingml/2006/main">
              <a:ext uri="{FF2B5EF4-FFF2-40B4-BE49-F238E27FC236}">
                <a16:creationId xmlns:a16="http://schemas.microsoft.com/office/drawing/2014/main" id="{5B7851B9-7D74-4287-B57B-B77D001400AE}"/>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Estimated direct project cost: AUD 100–200.</a:t>
            </a:r>
          </a:p>
        </p:txBody>
      </p:sp>
      <p:sp>
        <p:nvSpPr>
          <p:cNvPr id="3" name="">
            <a:extLst xmlns:a="http://schemas.openxmlformats.org/drawingml/2006/main">
              <a:ext uri="{FF2B5EF4-FFF2-40B4-BE49-F238E27FC236}">
                <a16:creationId xmlns:a16="http://schemas.microsoft.com/office/drawing/2014/main" id="{CC78A9CC-976F-4D43-A632-B23734084AC6}"/>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1846E77E-FEC0-480D-96DA-C9AB5C3D894E}"/>
              </a:ext>
            </a:extLst>
          </p:cNvPr>
          <p:cNvSpPr>
            <a:spLocks xmlns:a="http://schemas.openxmlformats.org/drawingml/2006/main" noGrp="1"/>
          </p:cNvSpPr>
          <p:nvPr/>
        </p:nvSpPr>
        <p:spPr>
          <a:xfrm xmlns:a="http://schemas.openxmlformats.org/drawingml/2006/main">
            <a:off x="590550" y="1924050"/>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People and equipment</a:t>
            </a:r>
          </a:p>
        </p:txBody>
      </p:sp>
      <p:sp>
        <p:nvSpPr>
          <p:cNvPr id="5" name="">
            <a:extLst xmlns:a="http://schemas.openxmlformats.org/drawingml/2006/main">
              <a:ext uri="{FF2B5EF4-FFF2-40B4-BE49-F238E27FC236}">
                <a16:creationId xmlns:a16="http://schemas.microsoft.com/office/drawing/2014/main" id="{FF4760C9-506A-422D-B50F-99DDE6DB38C6}"/>
              </a:ext>
            </a:extLst>
          </p:cNvPr>
          <p:cNvSpPr>
            <a:spLocks xmlns:a="http://schemas.openxmlformats.org/drawingml/2006/main" noGrp="1"/>
          </p:cNvSpPr>
          <p:nvPr/>
        </p:nvSpPr>
        <p:spPr>
          <a:xfrm xmlns:a="http://schemas.openxmlformats.org/drawingml/2006/main">
            <a:off x="590550" y="26193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B40"/>
                </a:solidFill>
                <a:latin typeface="DejaVu Sans"/>
                <a:ea typeface="DejaVu Sans"/>
                <a:cs typeface="DejaVu Sans"/>
              </a:defRPr>
            </a:pPr>
            <a:r>
              <a:rPr sz="2175" b="1">
                <a:solidFill>
                  <a:srgbClr val="142B40"/>
                </a:solidFill>
                <a:latin typeface="DejaVu Sans"/>
                <a:ea typeface="DejaVu Sans"/>
                <a:cs typeface="DejaVu Sans"/>
              </a:rPr>
              <a:t>Sneha Neupane</a:t>
            </a:r>
          </a:p>
        </p:txBody>
      </p:sp>
      <p:sp>
        <p:nvSpPr>
          <p:cNvPr id="6" name="">
            <a:extLst xmlns:a="http://schemas.openxmlformats.org/drawingml/2006/main">
              <a:ext uri="{FF2B5EF4-FFF2-40B4-BE49-F238E27FC236}">
                <a16:creationId xmlns:a16="http://schemas.microsoft.com/office/drawing/2014/main" id="{78114721-F08E-4229-B91F-29D152220A6C}"/>
              </a:ext>
            </a:extLst>
          </p:cNvPr>
          <p:cNvSpPr>
            <a:spLocks xmlns:a="http://schemas.openxmlformats.org/drawingml/2006/main" noGrp="1"/>
          </p:cNvSpPr>
          <p:nvPr/>
        </p:nvSpPr>
        <p:spPr>
          <a:xfrm xmlns:a="http://schemas.openxmlformats.org/drawingml/2006/main">
            <a:off x="590550" y="3133725"/>
            <a:ext cx="5000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374A"/>
                </a:solidFill>
                <a:latin typeface="DejaVu Sans"/>
                <a:ea typeface="DejaVu Sans"/>
                <a:cs typeface="DejaVu Sans"/>
              </a:defRPr>
            </a:pPr>
            <a:r>
              <a:rPr sz="1950" b="0">
                <a:solidFill>
                  <a:srgbClr val="20374A"/>
                </a:solidFill>
                <a:latin typeface="DejaVu Sans"/>
                <a:ea typeface="DejaVu Sans"/>
                <a:cs typeface="DejaVu Sans"/>
              </a:rPr>
              <a:t>Developer, tester, project manager</a:t>
            </a:r>
          </a:p>
          <a:p xmlns:a="http://schemas.openxmlformats.org/drawingml/2006/main">
            <a:pPr>
              <a:defRPr sz="1950" b="0">
                <a:solidFill>
                  <a:srgbClr val="20374A"/>
                </a:solidFill>
                <a:latin typeface="DejaVu Sans"/>
                <a:ea typeface="DejaVu Sans"/>
                <a:cs typeface="DejaVu Sans"/>
              </a:defRPr>
            </a:pPr>
            <a:r>
              <a:rPr sz="1950" b="0">
                <a:solidFill>
                  <a:srgbClr val="20374A"/>
                </a:solidFill>
                <a:latin typeface="DejaVu Sans"/>
                <a:ea typeface="DejaVu Sans"/>
                <a:cs typeface="DejaVu Sans"/>
              </a:rPr>
              <a:t>and technical writer</a:t>
            </a:r>
          </a:p>
        </p:txBody>
      </p:sp>
      <p:sp>
        <p:nvSpPr>
          <p:cNvPr id="7" name="">
            <a:extLst xmlns:a="http://schemas.openxmlformats.org/drawingml/2006/main">
              <a:ext uri="{FF2B5EF4-FFF2-40B4-BE49-F238E27FC236}">
                <a16:creationId xmlns:a16="http://schemas.microsoft.com/office/drawing/2014/main" id="{595D097F-2E73-40F3-ABA5-0A82E352BFC1}"/>
              </a:ext>
            </a:extLst>
          </p:cNvPr>
          <p:cNvSpPr>
            <a:spLocks xmlns:a="http://schemas.openxmlformats.org/drawingml/2006/main" noGrp="1"/>
          </p:cNvSpPr>
          <p:nvPr/>
        </p:nvSpPr>
        <p:spPr>
          <a:xfrm xmlns:a="http://schemas.openxmlformats.org/drawingml/2006/main">
            <a:off x="590550" y="4248150"/>
            <a:ext cx="5095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B40"/>
                </a:solidFill>
                <a:latin typeface="DejaVu Sans"/>
                <a:ea typeface="DejaVu Sans"/>
                <a:cs typeface="DejaVu Sans"/>
              </a:defRPr>
            </a:pPr>
            <a:r>
              <a:rPr sz="2100" b="1">
                <a:solidFill>
                  <a:srgbClr val="142B40"/>
                </a:solidFill>
                <a:latin typeface="DejaVu Sans"/>
                <a:ea typeface="DejaVu Sans"/>
                <a:cs typeface="DejaVu Sans"/>
              </a:rPr>
              <a:t>Supervisor and test participants</a:t>
            </a:r>
          </a:p>
        </p:txBody>
      </p:sp>
      <p:sp>
        <p:nvSpPr>
          <p:cNvPr id="8" name="">
            <a:extLst xmlns:a="http://schemas.openxmlformats.org/drawingml/2006/main">
              <a:ext uri="{FF2B5EF4-FFF2-40B4-BE49-F238E27FC236}">
                <a16:creationId xmlns:a16="http://schemas.microsoft.com/office/drawing/2014/main" id="{769DBFD9-A4F7-4754-AB86-B5D8661F6079}"/>
              </a:ext>
            </a:extLst>
          </p:cNvPr>
          <p:cNvSpPr>
            <a:spLocks xmlns:a="http://schemas.openxmlformats.org/drawingml/2006/main" noGrp="1"/>
          </p:cNvSpPr>
          <p:nvPr/>
        </p:nvSpPr>
        <p:spPr>
          <a:xfrm xmlns:a="http://schemas.openxmlformats.org/drawingml/2006/main">
            <a:off x="590550" y="5067300"/>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374A"/>
                </a:solidFill>
                <a:latin typeface="DejaVu Sans"/>
                <a:ea typeface="DejaVu Sans"/>
                <a:cs typeface="DejaVu Sans"/>
              </a:defRPr>
            </a:pPr>
            <a:r>
              <a:rPr sz="1800" b="0">
                <a:solidFill>
                  <a:srgbClr val="20374A"/>
                </a:solidFill>
                <a:latin typeface="DejaVu Sans"/>
                <a:ea typeface="DejaVu Sans"/>
                <a:cs typeface="DejaVu Sans"/>
              </a:rPr>
              <a:t>Fortnightly advice and consented test meetings</a:t>
            </a:r>
          </a:p>
          <a:p xmlns:a="http://schemas.openxmlformats.org/drawingml/2006/main">
            <a:pPr>
              <a:defRPr sz="1800" b="0">
                <a:solidFill>
                  <a:srgbClr val="20374A"/>
                </a:solidFill>
                <a:latin typeface="DejaVu Sans"/>
                <a:ea typeface="DejaVu Sans"/>
                <a:cs typeface="DejaVu Sans"/>
              </a:defRPr>
            </a:pPr>
            <a:r>
              <a:rPr sz="1800" b="0">
                <a:solidFill>
                  <a:srgbClr val="20374A"/>
                </a:solidFill>
                <a:latin typeface="DejaVu Sans"/>
                <a:ea typeface="DejaVu Sans"/>
                <a:cs typeface="DejaVu Sans"/>
              </a:rPr>
              <a:t>Mac and development tools already owned</a:t>
            </a:r>
          </a:p>
        </p:txBody>
      </p:sp>
      <p:graphicFrame>
        <p:nvGraphicFramePr>
          <p:cNvPr id="18" name=""/>
          <p:cNvGraphicFramePr/>
          <p:nvPr/>
        </p:nvGraphicFramePr>
        <p:xfrm>
          <a:off xmlns:a="http://schemas.openxmlformats.org/drawingml/2006/main" x="6581775" y="2095500"/>
          <a:ext xmlns:a="http://schemas.openxmlformats.org/drawingml/2006/main" cx="5038725" cy="3286125"/>
        </p:xfrm>
        <a:graphic xmlns:a="http://schemas.openxmlformats.org/drawingml/2006/main">
          <a:graphicData uri="http://schemas.openxmlformats.org/drawingml/2006/table">
            <a:tbl>
              <a:tblPr/>
              <a:tblGrid>
                <a:gridCol w="3295650"/>
                <a:gridCol w="1743075"/>
              </a:tblGrid>
              <a:tr h="657225">
                <a:tc>
                  <a:txBody>
                    <a:bodyPr/>
                    <a:lstStyle/>
                    <a:p>
                      <a:r>
                        <a:rPr sz="1800" b="1">
                          <a:solidFill>
                            <a:srgbClr val="FFFFFF"/>
                          </a:solidFill>
                          <a:latin typeface="DejaVu Sans"/>
                          <a:ea typeface="DejaVu Sans"/>
                          <a:cs typeface="DejaVu Sans"/>
                        </a:rPr>
                        <a:t>Cost item</a:t>
                      </a:r>
                    </a:p>
                  </a:txBody>
                  <a:tcPr marL="133350" marR="133350" marT="28575" marB="28575" anchor="ctr">
                    <a:solidFill>
                      <a:srgbClr val="142B40"/>
                    </a:solidFill>
                  </a:tcPr>
                </a:tc>
                <a:tc>
                  <a:txBody>
                    <a:bodyPr/>
                    <a:lstStyle/>
                    <a:p>
                      <a:r>
                        <a:rPr sz="1800" b="1">
                          <a:solidFill>
                            <a:srgbClr val="FFFFFF"/>
                          </a:solidFill>
                          <a:latin typeface="DejaVu Sans"/>
                          <a:ea typeface="DejaVu Sans"/>
                          <a:cs typeface="DejaVu Sans"/>
                        </a:rPr>
                        <a:t>AUD</a:t>
                      </a:r>
                    </a:p>
                  </a:txBody>
                  <a:tcPr marL="133350" marR="133350" marT="28575" marB="28575" anchor="ctr">
                    <a:solidFill>
                      <a:srgbClr val="142B40"/>
                    </a:solidFill>
                  </a:tcPr>
                </a:tc>
              </a:tr>
              <a:tr h="657225">
                <a:tc>
                  <a:txBody>
                    <a:bodyPr/>
                    <a:lstStyle/>
                    <a:p>
                      <a:r>
                        <a:rPr sz="1875" b="1">
                          <a:solidFill>
                            <a:srgbClr val="20374A"/>
                          </a:solidFill>
                          <a:latin typeface="DejaVu Sans"/>
                          <a:ea typeface="DejaVu Sans"/>
                          <a:cs typeface="DejaVu Sans"/>
                        </a:rPr>
                        <a:t>Deepgram</a:t>
                      </a:r>
                    </a:p>
                  </a:txBody>
                  <a:tcPr marL="133350" marR="133350" marT="28575" marB="28575" anchor="ctr">
                    <a:solidFill>
                      <a:srgbClr val="F7F9FA"/>
                    </a:solidFill>
                  </a:tcPr>
                </a:tc>
                <a:tc>
                  <a:txBody>
                    <a:bodyPr/>
                    <a:lstStyle/>
                    <a:p>
                      <a:r>
                        <a:rPr sz="1875" b="0">
                          <a:solidFill>
                            <a:srgbClr val="20374A"/>
                          </a:solidFill>
                          <a:latin typeface="DejaVu Sans"/>
                          <a:ea typeface="DejaVu Sans"/>
                          <a:cs typeface="DejaVu Sans"/>
                        </a:rPr>
                        <a:t>60–120</a:t>
                      </a:r>
                    </a:p>
                  </a:txBody>
                  <a:tcPr marL="133350" marR="133350" marT="28575" marB="28575" anchor="ctr">
                    <a:solidFill>
                      <a:srgbClr val="F7F9FA"/>
                    </a:solidFill>
                  </a:tcPr>
                </a:tc>
              </a:tr>
              <a:tr h="657225">
                <a:tc>
                  <a:txBody>
                    <a:bodyPr/>
                    <a:lstStyle/>
                    <a:p>
                      <a:r>
                        <a:rPr sz="1875" b="1">
                          <a:solidFill>
                            <a:srgbClr val="20374A"/>
                          </a:solidFill>
                          <a:latin typeface="DejaVu Sans"/>
                          <a:ea typeface="DejaVu Sans"/>
                          <a:cs typeface="DejaVu Sans"/>
                        </a:rPr>
                        <a:t>Gemini</a:t>
                      </a:r>
                    </a:p>
                  </a:txBody>
                  <a:tcPr marL="133350" marR="133350" marT="28575" marB="28575" anchor="ctr">
                    <a:solidFill>
                      <a:srgbClr val="FFFFFF"/>
                    </a:solidFill>
                  </a:tcPr>
                </a:tc>
                <a:tc>
                  <a:txBody>
                    <a:bodyPr/>
                    <a:lstStyle/>
                    <a:p>
                      <a:r>
                        <a:rPr sz="1875" b="0">
                          <a:solidFill>
                            <a:srgbClr val="20374A"/>
                          </a:solidFill>
                          <a:latin typeface="DejaVu Sans"/>
                          <a:ea typeface="DejaVu Sans"/>
                          <a:cs typeface="DejaVu Sans"/>
                        </a:rPr>
                        <a:t>40–80</a:t>
                      </a:r>
                    </a:p>
                  </a:txBody>
                  <a:tcPr marL="133350" marR="133350" marT="28575" marB="28575" anchor="ctr">
                    <a:solidFill>
                      <a:srgbClr val="FFFFFF"/>
                    </a:solidFill>
                  </a:tcPr>
                </a:tc>
              </a:tr>
              <a:tr h="657225">
                <a:tc>
                  <a:txBody>
                    <a:bodyPr/>
                    <a:lstStyle/>
                    <a:p>
                      <a:r>
                        <a:rPr sz="1875" b="1">
                          <a:solidFill>
                            <a:srgbClr val="20374A"/>
                          </a:solidFill>
                          <a:latin typeface="DejaVu Sans"/>
                          <a:ea typeface="DejaVu Sans"/>
                          <a:cs typeface="DejaVu Sans"/>
                        </a:rPr>
                        <a:t>Hardware and tools</a:t>
                      </a:r>
                    </a:p>
                  </a:txBody>
                  <a:tcPr marL="133350" marR="133350" marT="28575" marB="28575" anchor="ctr">
                    <a:solidFill>
                      <a:srgbClr val="F7F9FA"/>
                    </a:solidFill>
                  </a:tcPr>
                </a:tc>
                <a:tc>
                  <a:txBody>
                    <a:bodyPr/>
                    <a:lstStyle/>
                    <a:p>
                      <a:r>
                        <a:rPr sz="1875" b="0">
                          <a:solidFill>
                            <a:srgbClr val="20374A"/>
                          </a:solidFill>
                          <a:latin typeface="DejaVu Sans"/>
                          <a:ea typeface="DejaVu Sans"/>
                          <a:cs typeface="DejaVu Sans"/>
                        </a:rPr>
                        <a:t>0</a:t>
                      </a:r>
                    </a:p>
                  </a:txBody>
                  <a:tcPr marL="133350" marR="133350" marT="28575" marB="28575" anchor="ctr">
                    <a:solidFill>
                      <a:srgbClr val="F7F9FA"/>
                    </a:solidFill>
                  </a:tcPr>
                </a:tc>
              </a:tr>
              <a:tr h="657225">
                <a:tc>
                  <a:txBody>
                    <a:bodyPr/>
                    <a:lstStyle/>
                    <a:p>
                      <a:r>
                        <a:rPr sz="1875" b="1">
                          <a:solidFill>
                            <a:srgbClr val="20374A"/>
                          </a:solidFill>
                          <a:latin typeface="DejaVu Sans"/>
                          <a:ea typeface="DejaVu Sans"/>
                          <a:cs typeface="DejaVu Sans"/>
                        </a:rPr>
                        <a:t>Total</a:t>
                      </a:r>
                    </a:p>
                  </a:txBody>
                  <a:tcPr marL="133350" marR="133350" marT="28575" marB="28575" anchor="ctr">
                    <a:solidFill>
                      <a:srgbClr val="FFFFFF"/>
                    </a:solidFill>
                  </a:tcPr>
                </a:tc>
                <a:tc>
                  <a:txBody>
                    <a:bodyPr/>
                    <a:lstStyle/>
                    <a:p>
                      <a:r>
                        <a:rPr sz="1875" b="0">
                          <a:solidFill>
                            <a:srgbClr val="20374A"/>
                          </a:solidFill>
                          <a:latin typeface="DejaVu Sans"/>
                          <a:ea typeface="DejaVu Sans"/>
                          <a:cs typeface="DejaVu Sans"/>
                        </a:rPr>
                        <a:t>100–200</a:t>
                      </a:r>
                    </a:p>
                  </a:txBody>
                  <a:tcPr marL="133350" marR="133350" marT="28575" marB="28575" anchor="ctr">
                    <a:solidFill>
                      <a:srgbClr val="FFFFFF"/>
                    </a:solidFill>
                  </a:tcPr>
                </a:tc>
              </a:tr>
            </a:tbl>
          </a:graphicData>
        </a:graphic>
      </p:graphicFrame>
    </p:spTree>
    <p:extLst>
      <p:ext uri="{BB962C8B-B14F-4D97-AF65-F5344CB8AC3E}">
        <p14:creationId xmlns:p14="http://schemas.microsoft.com/office/powerpoint/2010/main" val="1929627778"/>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5169B6-98E4-42B4-9F26-42BE69875C9C}"/>
              </a:ext>
            </a:extLst>
          </p:cNvPr>
          <p:cNvSpPr>
            <a:spLocks xmlns:a="http://schemas.openxmlformats.org/drawingml/2006/main" noGrp="1"/>
          </p:cNvSpPr>
          <p:nvPr/>
        </p:nvSpPr>
        <p:spPr>
          <a:xfrm xmlns:a="http://schemas.openxmlformats.org/drawingml/2006/main">
            <a:off x="5715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B40"/>
                </a:solidFill>
                <a:latin typeface="DejaVu Sans"/>
                <a:ea typeface="DejaVu Sans"/>
                <a:cs typeface="DejaVu Sans"/>
              </a:defRPr>
            </a:pPr>
            <a:r>
              <a:rPr sz="3375" b="1">
                <a:solidFill>
                  <a:srgbClr val="142B40"/>
                </a:solidFill>
                <a:latin typeface="DejaVu Sans"/>
                <a:ea typeface="DejaVu Sans"/>
                <a:cs typeface="DejaVu Sans"/>
              </a:rPr>
              <a:t>Next steps and expected outcomes</a:t>
            </a:r>
          </a:p>
        </p:txBody>
      </p:sp>
      <p:sp>
        <p:nvSpPr>
          <p:cNvPr id="2" name="">
            <a:extLst xmlns:a="http://schemas.openxmlformats.org/drawingml/2006/main">
              <a:ext uri="{FF2B5EF4-FFF2-40B4-BE49-F238E27FC236}">
                <a16:creationId xmlns:a16="http://schemas.microsoft.com/office/drawing/2014/main" id="{57ACA94F-D534-4354-BE80-506FC5627619}"/>
              </a:ext>
            </a:extLst>
          </p:cNvPr>
          <p:cNvSpPr>
            <a:spLocks xmlns:a="http://schemas.openxmlformats.org/drawingml/2006/main" noGrp="1"/>
          </p:cNvSpPr>
          <p:nvPr/>
        </p:nvSpPr>
        <p:spPr>
          <a:xfrm xmlns:a="http://schemas.openxmlformats.org/drawingml/2006/main">
            <a:off x="590550" y="118110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979"/>
                </a:solidFill>
                <a:latin typeface="DejaVu Sans"/>
                <a:ea typeface="DejaVu Sans"/>
                <a:cs typeface="DejaVu Sans"/>
              </a:defRPr>
            </a:pPr>
            <a:r>
              <a:rPr sz="1725" b="0">
                <a:solidFill>
                  <a:srgbClr val="566979"/>
                </a:solidFill>
                <a:latin typeface="DejaVu Sans"/>
                <a:ea typeface="DejaVu Sans"/>
                <a:cs typeface="DejaVu Sans"/>
              </a:rPr>
              <a:t>The immediate focus is to complete the Week 5 verification.</a:t>
            </a:r>
          </a:p>
        </p:txBody>
      </p:sp>
      <p:sp>
        <p:nvSpPr>
          <p:cNvPr id="3" name="">
            <a:extLst xmlns:a="http://schemas.openxmlformats.org/drawingml/2006/main">
              <a:ext uri="{FF2B5EF4-FFF2-40B4-BE49-F238E27FC236}">
                <a16:creationId xmlns:a16="http://schemas.microsoft.com/office/drawing/2014/main" id="{4005149E-A317-4AAA-914B-985BC551EA17}"/>
              </a:ext>
            </a:extLst>
          </p:cNvPr>
          <p:cNvSpPr>
            <a:spLocks xmlns:a="http://schemas.openxmlformats.org/drawingml/2006/main" noGrp="1"/>
          </p:cNvSpPr>
          <p:nvPr/>
        </p:nvSpPr>
        <p:spPr>
          <a:xfrm xmlns:a="http://schemas.openxmlformats.org/drawingml/2006/main">
            <a:off x="11049000" y="63246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979"/>
                </a:solidFill>
                <a:latin typeface="DejaVu Sans"/>
                <a:ea typeface="DejaVu Sans"/>
                <a:cs typeface="DejaVu Sans"/>
              </a:defRPr>
            </a:pPr>
            <a:r>
              <a:rPr sz="1275" b="0">
                <a:solidFill>
                  <a:srgbClr val="566979"/>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62069B9F-0ACF-493D-8280-755C297C62EB}"/>
              </a:ext>
            </a:extLst>
          </p:cNvPr>
          <p:cNvSpPr>
            <a:spLocks xmlns:a="http://schemas.openxmlformats.org/drawingml/2006/main" noGrp="1"/>
          </p:cNvSpPr>
          <p:nvPr/>
        </p:nvSpPr>
        <p:spPr>
          <a:xfrm xmlns:a="http://schemas.openxmlformats.org/drawingml/2006/main">
            <a:off x="590550" y="1981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Next milestones</a:t>
            </a:r>
          </a:p>
        </p:txBody>
      </p:sp>
      <p:sp>
        <p:nvSpPr>
          <p:cNvPr id="5" name="">
            <a:extLst xmlns:a="http://schemas.openxmlformats.org/drawingml/2006/main">
              <a:ext uri="{FF2B5EF4-FFF2-40B4-BE49-F238E27FC236}">
                <a16:creationId xmlns:a16="http://schemas.microsoft.com/office/drawing/2014/main" id="{11E3D7B7-1990-46F1-80DC-C14080772622}"/>
              </a:ext>
            </a:extLst>
          </p:cNvPr>
          <p:cNvSpPr>
            <a:spLocks xmlns:a="http://schemas.openxmlformats.org/drawingml/2006/main" noGrp="1"/>
          </p:cNvSpPr>
          <p:nvPr/>
        </p:nvSpPr>
        <p:spPr>
          <a:xfrm xmlns:a="http://schemas.openxmlformats.org/drawingml/2006/main">
            <a:off x="590550" y="2686050"/>
            <a:ext cx="5133975"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2025" b="0">
                <a:solidFill>
                  <a:srgbClr val="20374A"/>
                </a:solidFill>
                <a:latin typeface="DejaVu Sans"/>
                <a:ea typeface="DejaVu Sans"/>
                <a:cs typeface="DejaVu Sans"/>
              </a:defRPr>
            </a:pPr>
            <a:r>
              <a:t>Week 5: verify labels, latency and overlay behaviour.</a:t>
            </a:r>
          </a:p>
          <a:p xmlns:a="http://schemas.openxmlformats.org/drawingml/2006/main">
            <a:pPr marL="241300" indent="-139700">
              <a:spcAft>
                <a:spcPts val="1400"/>
              </a:spcAft>
              <a:buChar char="•"/>
              <a:defRPr sz="2025" b="0">
                <a:solidFill>
                  <a:srgbClr val="20374A"/>
                </a:solidFill>
                <a:latin typeface="DejaVu Sans"/>
                <a:ea typeface="DejaVu Sans"/>
                <a:cs typeface="DejaVu Sans"/>
              </a:defRPr>
            </a:pPr>
            <a:r>
              <a:t>Week 6: refine relevance against five documents.</a:t>
            </a:r>
          </a:p>
          <a:p xmlns:a="http://schemas.openxmlformats.org/drawingml/2006/main">
            <a:pPr marL="241300" indent="-139700">
              <a:spcAft>
                <a:spcPts val="1400"/>
              </a:spcAft>
              <a:buChar char="•"/>
              <a:defRPr sz="2025" b="0">
                <a:solidFill>
                  <a:srgbClr val="20374A"/>
                </a:solidFill>
                <a:latin typeface="DejaVu Sans"/>
                <a:ea typeface="DejaVu Sans"/>
                <a:cs typeface="DejaVu Sans"/>
              </a:defRPr>
            </a:pPr>
            <a:r>
              <a:t>Week 7: integrate and evaluate live insights.</a:t>
            </a:r>
          </a:p>
        </p:txBody>
      </p:sp>
      <p:sp>
        <p:nvSpPr>
          <p:cNvPr id="6" name="">
            <a:extLst xmlns:a="http://schemas.openxmlformats.org/drawingml/2006/main">
              <a:ext uri="{FF2B5EF4-FFF2-40B4-BE49-F238E27FC236}">
                <a16:creationId xmlns:a16="http://schemas.microsoft.com/office/drawing/2014/main" id="{F914C96B-E4FE-4A4A-89C8-9870F4A1D889}"/>
              </a:ext>
            </a:extLst>
          </p:cNvPr>
          <p:cNvSpPr>
            <a:spLocks xmlns:a="http://schemas.openxmlformats.org/drawingml/2006/main" noGrp="1"/>
          </p:cNvSpPr>
          <p:nvPr/>
        </p:nvSpPr>
        <p:spPr>
          <a:xfrm xmlns:a="http://schemas.openxmlformats.org/drawingml/2006/main">
            <a:off x="6610350" y="1981200"/>
            <a:ext cx="4962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E80"/>
                </a:solidFill>
                <a:latin typeface="DejaVu Sans"/>
                <a:ea typeface="DejaVu Sans"/>
                <a:cs typeface="DejaVu Sans"/>
              </a:defRPr>
            </a:pPr>
            <a:r>
              <a:rPr sz="2400" b="1">
                <a:solidFill>
                  <a:srgbClr val="007E80"/>
                </a:solidFill>
                <a:latin typeface="DejaVu Sans"/>
                <a:ea typeface="DejaVu Sans"/>
                <a:cs typeface="DejaVu Sans"/>
              </a:rPr>
              <a:t>Expected final deliverables</a:t>
            </a:r>
          </a:p>
        </p:txBody>
      </p:sp>
      <p:sp>
        <p:nvSpPr>
          <p:cNvPr id="7" name="">
            <a:extLst xmlns:a="http://schemas.openxmlformats.org/drawingml/2006/main">
              <a:ext uri="{FF2B5EF4-FFF2-40B4-BE49-F238E27FC236}">
                <a16:creationId xmlns:a16="http://schemas.microsoft.com/office/drawing/2014/main" id="{51AF06C6-ED96-4151-9E4A-2565293FFFA2}"/>
              </a:ext>
            </a:extLst>
          </p:cNvPr>
          <p:cNvSpPr>
            <a:spLocks xmlns:a="http://schemas.openxmlformats.org/drawingml/2006/main" noGrp="1"/>
          </p:cNvSpPr>
          <p:nvPr/>
        </p:nvSpPr>
        <p:spPr>
          <a:xfrm xmlns:a="http://schemas.openxmlformats.org/drawingml/2006/main">
            <a:off x="6610350" y="2686050"/>
            <a:ext cx="48006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39700">
              <a:spcAft>
                <a:spcPts val="1400"/>
              </a:spcAft>
              <a:buChar char="•"/>
              <a:defRPr sz="2025" b="0">
                <a:solidFill>
                  <a:srgbClr val="20374A"/>
                </a:solidFill>
                <a:latin typeface="DejaVu Sans"/>
                <a:ea typeface="DejaVu Sans"/>
                <a:cs typeface="DejaVu Sans"/>
              </a:defRPr>
            </a:pPr>
            <a:r>
              <a:t>A demonstrable macOS prototype</a:t>
            </a:r>
          </a:p>
          <a:p xmlns:a="http://schemas.openxmlformats.org/drawingml/2006/main">
            <a:pPr marL="241300" indent="-139700">
              <a:spcAft>
                <a:spcPts val="1400"/>
              </a:spcAft>
              <a:buChar char="•"/>
              <a:defRPr sz="2025" b="0">
                <a:solidFill>
                  <a:srgbClr val="20374A"/>
                </a:solidFill>
                <a:latin typeface="DejaVu Sans"/>
                <a:ea typeface="DejaVu Sans"/>
                <a:cs typeface="DejaVu Sans"/>
              </a:defRPr>
            </a:pPr>
            <a:r>
              <a:t>Participation coaching and meeting comparison</a:t>
            </a:r>
          </a:p>
          <a:p xmlns:a="http://schemas.openxmlformats.org/drawingml/2006/main">
            <a:pPr marL="241300" indent="-139700">
              <a:spcAft>
                <a:spcPts val="1400"/>
              </a:spcAft>
              <a:buChar char="•"/>
              <a:defRPr sz="2025" b="0">
                <a:solidFill>
                  <a:srgbClr val="20374A"/>
                </a:solidFill>
                <a:latin typeface="DejaVu Sans"/>
                <a:ea typeface="DejaVu Sans"/>
                <a:cs typeface="DejaVu Sans"/>
              </a:defRPr>
            </a:pPr>
            <a:r>
              <a:t>An evaluation report and final demonstration</a:t>
            </a:r>
          </a:p>
        </p:txBody>
      </p:sp>
      <p:sp>
        <p:nvSpPr>
          <p:cNvPr id="8" name="">
            <a:extLst xmlns:a="http://schemas.openxmlformats.org/drawingml/2006/main">
              <a:ext uri="{FF2B5EF4-FFF2-40B4-BE49-F238E27FC236}">
                <a16:creationId xmlns:a16="http://schemas.microsoft.com/office/drawing/2014/main" id="{E3FCFE27-B2D3-4975-A92E-FE40A2FB9B37}"/>
              </a:ext>
            </a:extLst>
          </p:cNvPr>
          <p:cNvSpPr>
            <a:spLocks xmlns:a="http://schemas.openxmlformats.org/drawingml/2006/main" noGrp="1"/>
          </p:cNvSpPr>
          <p:nvPr/>
        </p:nvSpPr>
        <p:spPr>
          <a:xfrm xmlns:a="http://schemas.openxmlformats.org/drawingml/2006/main">
            <a:off x="590550" y="58769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40"/>
                </a:solidFill>
                <a:latin typeface="DejaVu Sans"/>
                <a:ea typeface="DejaVu Sans"/>
                <a:cs typeface="DejaVu Sans"/>
              </a:defRPr>
            </a:pPr>
            <a:r>
              <a:rPr sz="2250" b="1">
                <a:solidFill>
                  <a:srgbClr val="142B40"/>
                </a:solidFill>
                <a:latin typeface="DejaVu Sans"/>
                <a:ea typeface="DejaVu Sans"/>
                <a:cs typeface="DejaVu Sans"/>
              </a:rPr>
              <a:t>Questions and feedback</a:t>
            </a:r>
          </a:p>
        </p:txBody>
      </p:sp>
    </p:spTree>
    <p:extLst>
      <p:ext uri="{BB962C8B-B14F-4D97-AF65-F5344CB8AC3E}">
        <p14:creationId xmlns:p14="http://schemas.microsoft.com/office/powerpoint/2010/main" val="8846736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2026-09-14T00:44:34.3760000Z</dcterms:created>
  <dcterms:modified xsi:type="dcterms:W3CDTF">2026-09-14T00:44:34.3760000Z</dcterms:modified>
</coreProperties>
</file>